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119a9f133434da4" /><Relationship Type="http://schemas.openxmlformats.org/officeDocument/2006/relationships/extended-properties" Target="/docProps/app.xml" Id="Rabcbfce011c64837" /><Relationship Type="http://schemas.openxmlformats.org/officeDocument/2006/relationships/officeDocument" Target="/ppt/presentation.xml" Id="Ra7f5670020294084" /></Relationships>
</file>

<file path=ppt/presentation.xml><?xml version="1.0" encoding="utf-8"?>
<p:presentation xmlns:p="http://schemas.openxmlformats.org/presentationml/2006/main">
  <p:sldMasterIdLst>
    <p:sldMasterId xmlns:r="http://schemas.openxmlformats.org/officeDocument/2006/relationships" id="2147483648" r:id="R26a23caeef0b46f6"/>
  </p:sldMasterIdLst>
  <p:notesMasterIdLst>
    <p:notesMasterId xmlns:r="http://schemas.openxmlformats.org/officeDocument/2006/relationships" r:id="Rf07ca4ea72694fb6"/>
  </p:notesMasterIdLst>
  <p:sldIdLst>
    <p:sldId xmlns:r="http://schemas.openxmlformats.org/officeDocument/2006/relationships" id="256" r:id="R4c73ba8a922a4412"/>
    <p:sldId xmlns:r="http://schemas.openxmlformats.org/officeDocument/2006/relationships" id="257" r:id="R42ac45aea1ae4a0b"/>
    <p:sldId xmlns:r="http://schemas.openxmlformats.org/officeDocument/2006/relationships" id="258" r:id="R320e9b1b591c4799"/>
    <p:sldId xmlns:r="http://schemas.openxmlformats.org/officeDocument/2006/relationships" id="259" r:id="Rddcbf52d017c4fa1"/>
    <p:sldId xmlns:r="http://schemas.openxmlformats.org/officeDocument/2006/relationships" id="260" r:id="Rac65cddc6e494c46"/>
    <p:sldId xmlns:r="http://schemas.openxmlformats.org/officeDocument/2006/relationships" id="261" r:id="Ra1efddbf20844f9c"/>
    <p:sldId xmlns:r="http://schemas.openxmlformats.org/officeDocument/2006/relationships" id="262" r:id="R1e4ee3f07f434d49"/>
    <p:sldId xmlns:r="http://schemas.openxmlformats.org/officeDocument/2006/relationships" id="263" r:id="R65b87d4e7da642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8f493e4b8a4cc6" /><Relationship Type="http://schemas.openxmlformats.org/officeDocument/2006/relationships/slideMaster" Target="/ppt/slideMasters/slideMaster1.xml" Id="R26a23caeef0b46f6" /><Relationship Type="http://schemas.openxmlformats.org/officeDocument/2006/relationships/notesMaster" Target="/ppt/notesMasters/notesMaster1.xml" Id="Rf07ca4ea72694fb6" /><Relationship Type="http://schemas.openxmlformats.org/officeDocument/2006/relationships/presProps" Target="/ppt/presProps.xml" Id="R05187d8d11554c13" /><Relationship Type="http://schemas.openxmlformats.org/officeDocument/2006/relationships/tableStyles" Target="/ppt/tableStyles.xml" Id="Rb6031bf9c3c544b8" /><Relationship Type="http://schemas.openxmlformats.org/officeDocument/2006/relationships/slide" Target="/ppt/slides/slide1.xml" Id="R4c73ba8a922a4412" /><Relationship Type="http://schemas.openxmlformats.org/officeDocument/2006/relationships/slide" Target="/ppt/slides/slide2.xml" Id="R42ac45aea1ae4a0b" /><Relationship Type="http://schemas.openxmlformats.org/officeDocument/2006/relationships/slide" Target="/ppt/slides/slide3.xml" Id="R320e9b1b591c4799" /><Relationship Type="http://schemas.openxmlformats.org/officeDocument/2006/relationships/slide" Target="/ppt/slides/slide4.xml" Id="Rddcbf52d017c4fa1" /><Relationship Type="http://schemas.openxmlformats.org/officeDocument/2006/relationships/slide" Target="/ppt/slides/slide5.xml" Id="Rac65cddc6e494c46" /><Relationship Type="http://schemas.openxmlformats.org/officeDocument/2006/relationships/slide" Target="/ppt/slides/slide6.xml" Id="Ra1efddbf20844f9c" /><Relationship Type="http://schemas.openxmlformats.org/officeDocument/2006/relationships/slide" Target="/ppt/slides/slide7.xml" Id="R1e4ee3f07f434d49" /><Relationship Type="http://schemas.openxmlformats.org/officeDocument/2006/relationships/slide" Target="/ppt/slides/slide8.xml" Id="R65b87d4e7da642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95ef9ba1e541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74ededd14743dc" /><Relationship Type="http://schemas.openxmlformats.org/officeDocument/2006/relationships/notesMaster" Target="/ppt/notesMasters/notesMaster1.xml" Id="Rfc81ebf6be3041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40f08338a34044" /><Relationship Type="http://schemas.openxmlformats.org/officeDocument/2006/relationships/notesMaster" Target="/ppt/notesMasters/notesMaster1.xml" Id="R9b7a699c961447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8830670905426a" /><Relationship Type="http://schemas.openxmlformats.org/officeDocument/2006/relationships/notesMaster" Target="/ppt/notesMasters/notesMaster1.xml" Id="Rf6434031465747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34f949d02f41fc" /><Relationship Type="http://schemas.openxmlformats.org/officeDocument/2006/relationships/notesMaster" Target="/ppt/notesMasters/notesMaster1.xml" Id="R3c26803f86d042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35fdd38ec946a1" /><Relationship Type="http://schemas.openxmlformats.org/officeDocument/2006/relationships/notesMaster" Target="/ppt/notesMasters/notesMaster1.xml" Id="Rbfcaa12786af49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d7f11c0090477b" /><Relationship Type="http://schemas.openxmlformats.org/officeDocument/2006/relationships/notesMaster" Target="/ppt/notesMasters/notesMaster1.xml" Id="Rc6db67ccb47241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7e51e2de174dcd" /><Relationship Type="http://schemas.openxmlformats.org/officeDocument/2006/relationships/notesMaster" Target="/ppt/notesMasters/notesMaster1.xml" Id="R218d12ff934f41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1613ada1af4cd1" /><Relationship Type="http://schemas.openxmlformats.org/officeDocument/2006/relationships/notesMaster" Target="/ppt/notesMasters/notesMaster1.xml" Id="Red0237787a6645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selected from Module 2 Assignment &amp; Project, option 4: Decision Making &amp; Actuator Handling.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assignment asks for a simplified decision module such as stop, yield, or turn with simulated actuator response in Carla or MATLAB/Simulink. This implementation uses MATLAB only and a small kinematic vehicle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values are the settings in the supplied MATLAB script. Positions and event times are simulated, not measured road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controller uses four states represented by numeric codes in the script: 1 driving, 2 yield, 3 stop, and 4 turn right. The pedestrian condition is checked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script applies acceleration from normalized throttle and brake values. It updates heading and position using a simple kinematic bicycle model. This is not a full vehicle dynamics or safety validation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screenshots were supplied by the project author. The printed 'stopped: 4.8 seconds' counts time in the STOP state, which begins during braking. The script's configured full-stop dwell is 2.5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summary values are read from the screenshots supplied by the user. Interpret the 4.8 seconds as time in the STOP state, including the approach. The configured stationary dwell is 2.5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Summary of the project implementation and its scope. Next-step ideas are suggestions, not implemented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932b29d1e845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5759cc95ee4a88" /><Relationship Type="http://schemas.openxmlformats.org/officeDocument/2006/relationships/slideLayout" Target="/ppt/slideLayouts/slideLayout1.xml" Id="R5c614158900c43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614158900c43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72ba989a4b7445c" /><Relationship Type="http://schemas.openxmlformats.org/officeDocument/2006/relationships/notesSlide" Target="/ppt/notesSlides/notesSlide1.xml" Id="Rcee748b003304d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97a5913fbe84371" /><Relationship Type="http://schemas.openxmlformats.org/officeDocument/2006/relationships/notesSlide" Target="/ppt/notesSlides/notesSlide2.xml" Id="R3520a2f4d6524f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7ec207008db4e3b" /><Relationship Type="http://schemas.openxmlformats.org/officeDocument/2006/relationships/notesSlide" Target="/ppt/notesSlides/notesSlide3.xml" Id="R28528b9c600647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89078912a247c8" /><Relationship Type="http://schemas.openxmlformats.org/officeDocument/2006/relationships/notesSlide" Target="/ppt/notesSlides/notesSlide4.xml" Id="R3cbba5c20f564a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4e56e97931842dd" /><Relationship Type="http://schemas.openxmlformats.org/officeDocument/2006/relationships/notesSlide" Target="/ppt/notesSlides/notesSlide5.xml" Id="R9082a3581bba43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f2426f6cb0c4815" /><Relationship Type="http://schemas.openxmlformats.org/officeDocument/2006/relationships/image" Target="/ppt/media/image.png" Id="Ra6f9611c36d04dfb" /><Relationship Type="http://schemas.openxmlformats.org/officeDocument/2006/relationships/image" Target="/ppt/media/image2.png" Id="R13be91156d18464a" /><Relationship Type="http://schemas.openxmlformats.org/officeDocument/2006/relationships/notesSlide" Target="/ppt/notesSlides/notesSlide6.xml" Id="R52685394480e4e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4ecad3c21694dcd" /><Relationship Type="http://schemas.openxmlformats.org/officeDocument/2006/relationships/notesSlide" Target="/ppt/notesSlides/notesSlide7.xml" Id="R6c1af49c00f743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615bd065604108" /><Relationship Type="http://schemas.openxmlformats.org/officeDocument/2006/relationships/notesSlide" Target="/ppt/notesSlides/notesSlide8.xml" Id="R394c900bad014fdb" /></Relationships>
</file>

<file path=ppt/slides/slide1.xml><?xml version="1.0" encoding="utf-8"?>
<p:sld xmlns:p="http://schemas.openxmlformats.org/presentationml/2006/main">
  <p:cSld>
    <p:bg>
      <p:bgPr>
        <a:solidFill xmlns:a="http://schemas.openxmlformats.org/drawingml/2006/main">
          <a:srgbClr val="14304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6AB548E-99BB-4974-ACDD-96CD1BB80CE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817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4747C6-D536-417A-ACCD-08173B397244}"/>
              </a:ext>
            </a:extLst>
          </p:cNvPr>
          <p:cNvSpPr>
            <a:spLocks xmlns:a="http://schemas.openxmlformats.org/drawingml/2006/main" noGrp="1"/>
          </p:cNvSpPr>
          <p:nvPr/>
        </p:nvSpPr>
        <p:spPr>
          <a:xfrm xmlns:a="http://schemas.openxmlformats.org/drawingml/2006/main">
            <a:off x="819150" y="1476375"/>
            <a:ext cx="9906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4575" b="1">
                <a:solidFill>
                  <a:srgbClr val="FFFFFF"/>
                </a:solidFill>
                <a:latin typeface="Arial"/>
                <a:ea typeface="Arial"/>
                <a:cs typeface="Arial"/>
              </a:defRPr>
            </a:pPr>
            <a:r>
              <a:rPr sz="4575" b="1">
                <a:solidFill>
                  <a:srgbClr val="FFFFFF"/>
                </a:solidFill>
                <a:latin typeface="Arial"/>
                <a:ea typeface="Arial"/>
                <a:cs typeface="Arial"/>
              </a:rPr>
              <a:t>AUTONOMOUS VEHICLE</a:t>
            </a:r>
          </a:p>
          <a:p xmlns:a="http://schemas.openxmlformats.org/drawingml/2006/main">
            <a:pPr algn="l">
              <a:buNone/>
              <a:defRPr sz="4575" b="1">
                <a:solidFill>
                  <a:srgbClr val="FFFFFF"/>
                </a:solidFill>
                <a:latin typeface="Arial"/>
                <a:ea typeface="Arial"/>
                <a:cs typeface="Arial"/>
              </a:defRPr>
            </a:pPr>
            <a:r>
              <a:rPr sz="4575" b="1">
                <a:solidFill>
                  <a:srgbClr val="FFFFFF"/>
                </a:solidFill>
                <a:latin typeface="Arial"/>
                <a:ea typeface="Arial"/>
                <a:cs typeface="Arial"/>
              </a:rPr>
              <a:t>DECISION MODULE</a:t>
            </a:r>
          </a:p>
        </p:txBody>
      </p:sp>
      <p:sp>
        <p:nvSpPr>
          <p:cNvPr id="3" name="">
            <a:extLst xmlns:a="http://schemas.openxmlformats.org/drawingml/2006/main">
              <a:ext uri="{FF2B5EF4-FFF2-40B4-BE49-F238E27FC236}">
                <a16:creationId xmlns:a16="http://schemas.microsoft.com/office/drawing/2014/main" id="{1E47EFB8-3F8B-4638-8396-0AB2BDA568EB}"/>
              </a:ext>
            </a:extLst>
          </p:cNvPr>
          <p:cNvSpPr>
            <a:spLocks xmlns:a="http://schemas.openxmlformats.org/drawingml/2006/main" noGrp="1"/>
          </p:cNvSpPr>
          <p:nvPr/>
        </p:nvSpPr>
        <p:spPr>
          <a:xfrm xmlns:a="http://schemas.openxmlformats.org/drawingml/2006/main">
            <a:off x="857250" y="3476625"/>
            <a:ext cx="9715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2325" b="0">
                <a:solidFill>
                  <a:srgbClr val="D9E8EE"/>
                </a:solidFill>
                <a:latin typeface="Arial"/>
                <a:ea typeface="Arial"/>
                <a:cs typeface="Arial"/>
              </a:defRPr>
            </a:pPr>
            <a:r>
              <a:rPr sz="2325" b="0">
                <a:solidFill>
                  <a:srgbClr val="D9E8EE"/>
                </a:solidFill>
                <a:latin typeface="Arial"/>
                <a:ea typeface="Arial"/>
                <a:cs typeface="Arial"/>
              </a:rPr>
              <a:t/>
            </a:r>
          </a:p>
        </p:txBody>
      </p:sp>
      <p:sp>
        <p:nvSpPr>
          <p:cNvPr id="4" name="">
            <a:extLst xmlns:a="http://schemas.openxmlformats.org/drawingml/2006/main">
              <a:ext uri="{FF2B5EF4-FFF2-40B4-BE49-F238E27FC236}">
                <a16:creationId xmlns:a16="http://schemas.microsoft.com/office/drawing/2014/main" id="{D3A3FB39-0D78-462A-8739-CCB8CC6569AD}"/>
              </a:ext>
            </a:extLst>
          </p:cNvPr>
          <p:cNvSpPr>
            <a:spLocks xmlns:a="http://schemas.openxmlformats.org/drawingml/2006/main" noGrp="1"/>
          </p:cNvSpPr>
          <p:nvPr/>
        </p:nvSpPr>
        <p:spPr>
          <a:xfrm xmlns:a="http://schemas.openxmlformats.org/drawingml/2006/main">
            <a:off x="857250" y="5638800"/>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725" b="0">
                <a:solidFill>
                  <a:srgbClr val="B8CDD7"/>
                </a:solidFill>
                <a:latin typeface="Arial"/>
                <a:ea typeface="Arial"/>
                <a:cs typeface="Arial"/>
              </a:defRPr>
            </a:pPr>
            <a:r>
              <a:rPr sz="1725" b="0">
                <a:solidFill>
                  <a:srgbClr val="B8CDD7"/>
                </a:solidFill>
                <a:latin typeface="Arial"/>
                <a:ea typeface="Arial"/>
                <a:cs typeface="Arial"/>
              </a:rPr>
              <a:t/>
            </a:r>
          </a:p>
        </p:txBody>
      </p:sp>
      <p:sp>
        <p:nvSpPr>
          <p:cNvPr id="6" name="Author and institution">
            <a:extLst xmlns:a="http://schemas.openxmlformats.org/drawingml/2006/main">
              <a:ext uri="{FF2B5EF4-FFF2-40B4-BE49-F238E27FC236}">
                <a16:creationId xmlns:a16="http://schemas.microsoft.com/office/drawing/2014/main" id="{1BA40854-020B-4973-9CE8-FDCCC7641C2E}"/>
              </a:ext>
            </a:extLst>
          </p:cNvPr>
          <p:cNvSpPr>
            <a:spLocks xmlns:a="http://schemas.openxmlformats.org/drawingml/2006/main" noGrp="1"/>
          </p:cNvSpPr>
          <p:nvPr/>
        </p:nvSpPr>
        <p:spPr>
          <a:xfrm xmlns:a="http://schemas.openxmlformats.org/drawingml/2006/main">
            <a:off x="857250" y="4476750"/>
            <a:ext cx="10001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D9E8EE"/>
                </a:solidFill>
                <a:latin typeface="Arial"/>
                <a:ea typeface="Arial"/>
                <a:cs typeface="Arial"/>
              </a:defRPr>
            </a:pPr>
            <a:r>
              <a:rPr sz="1725" b="1">
                <a:solidFill>
                  <a:srgbClr val="D9E8EE"/>
                </a:solidFill>
                <a:latin typeface="Arial"/>
                <a:ea typeface="Arial"/>
                <a:cs typeface="Arial"/>
              </a:rPr>
              <a:t>Kuntal Pradhan</a:t>
            </a:r>
          </a:p>
          <a:p xmlns:a="http://schemas.openxmlformats.org/drawingml/2006/main">
            <a:pPr>
              <a:buNone/>
              <a:defRPr sz="1725" b="1">
                <a:solidFill>
                  <a:srgbClr val="D9E8EE"/>
                </a:solidFill>
                <a:latin typeface="Arial"/>
                <a:ea typeface="Arial"/>
                <a:cs typeface="Arial"/>
              </a:defRPr>
            </a:pPr>
            <a:r>
              <a:rPr sz="1725" b="1">
                <a:solidFill>
                  <a:srgbClr val="D9E8EE"/>
                </a:solidFill>
                <a:latin typeface="Arial"/>
                <a:ea typeface="Arial"/>
                <a:cs typeface="Arial"/>
              </a:rPr>
              <a:t>Institute of Engineering and Management, Kolkata</a:t>
            </a:r>
          </a:p>
        </p:txBody>
      </p:sp>
    </p:spTree>
    <p:extLst>
      <p:ext uri="{BB962C8B-B14F-4D97-AF65-F5344CB8AC3E}">
        <p14:creationId xmlns:p14="http://schemas.microsoft.com/office/powerpoint/2010/main" val="1302316630"/>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40B06AD-E8B7-4A69-BE31-8EEACECF50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B817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6E1EC5-A10D-43F6-857B-102B7CDA61B8}"/>
              </a:ext>
            </a:extLst>
          </p:cNvPr>
          <p:cNvSpPr>
            <a:spLocks xmlns:a="http://schemas.openxmlformats.org/drawingml/2006/main" noGrp="1"/>
          </p:cNvSpPr>
          <p:nvPr/>
        </p:nvSpPr>
        <p:spPr>
          <a:xfrm xmlns:a="http://schemas.openxmlformats.org/drawingml/2006/main">
            <a:off x="609600" y="4000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450" b="1">
                <a:solidFill>
                  <a:srgbClr val="14304A"/>
                </a:solidFill>
                <a:latin typeface="Arial"/>
                <a:ea typeface="Arial"/>
                <a:cs typeface="Arial"/>
              </a:defRPr>
            </a:pPr>
            <a:r>
              <a:rPr sz="3450" b="1">
                <a:solidFill>
                  <a:srgbClr val="14304A"/>
                </a:solidFill>
                <a:latin typeface="Arial"/>
                <a:ea typeface="Arial"/>
                <a:cs typeface="Arial"/>
              </a:rPr>
              <a:t>Project aim</a:t>
            </a:r>
          </a:p>
        </p:txBody>
      </p:sp>
      <p:sp>
        <p:nvSpPr>
          <p:cNvPr id="3" name="">
            <a:extLst xmlns:a="http://schemas.openxmlformats.org/drawingml/2006/main">
              <a:ext uri="{FF2B5EF4-FFF2-40B4-BE49-F238E27FC236}">
                <a16:creationId xmlns:a16="http://schemas.microsoft.com/office/drawing/2014/main" id="{6A91995E-EA55-46BE-80A8-9B8E5051C3F7}"/>
              </a:ext>
            </a:extLst>
          </p:cNvPr>
          <p:cNvSpPr>
            <a:spLocks xmlns:a="http://schemas.openxmlformats.org/drawingml/2006/main" noGrp="1"/>
          </p:cNvSpPr>
          <p:nvPr/>
        </p:nvSpPr>
        <p:spPr>
          <a:xfrm xmlns:a="http://schemas.openxmlformats.org/drawingml/2006/main">
            <a:off x="628650" y="1009650"/>
            <a:ext cx="1090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0">
                <a:solidFill>
                  <a:srgbClr val="4F6170"/>
                </a:solidFill>
                <a:latin typeface="Arial"/>
                <a:ea typeface="Arial"/>
                <a:cs typeface="Arial"/>
              </a:defRPr>
            </a:pPr>
            <a:r>
              <a:rPr sz="1800" b="0">
                <a:solidFill>
                  <a:srgbClr val="4F6170"/>
                </a:solidFill>
                <a:latin typeface="Arial"/>
                <a:ea typeface="Arial"/>
                <a:cs typeface="Arial"/>
              </a:rPr>
              <a:t>A small, explainable MATLAB project for autonomous vehicle decision making</a:t>
            </a:r>
          </a:p>
        </p:txBody>
      </p:sp>
      <p:sp>
        <p:nvSpPr>
          <p:cNvPr id="4" name="">
            <a:extLst xmlns:a="http://schemas.openxmlformats.org/drawingml/2006/main">
              <a:ext uri="{FF2B5EF4-FFF2-40B4-BE49-F238E27FC236}">
                <a16:creationId xmlns:a16="http://schemas.microsoft.com/office/drawing/2014/main" id="{823C27E5-F9AB-46F2-AA8A-52ED24D4E7C4}"/>
              </a:ext>
            </a:extLst>
          </p:cNvPr>
          <p:cNvSpPr>
            <a:spLocks xmlns:a="http://schemas.openxmlformats.org/drawingml/2006/main" noGrp="1"/>
          </p:cNvSpPr>
          <p:nvPr/>
        </p:nvSpPr>
        <p:spPr>
          <a:xfrm xmlns:a="http://schemas.openxmlformats.org/drawingml/2006/main">
            <a:off x="704850" y="18764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0B817C"/>
                </a:solidFill>
                <a:latin typeface="Arial"/>
                <a:ea typeface="Arial"/>
                <a:cs typeface="Arial"/>
              </a:defRPr>
            </a:pPr>
            <a:r>
              <a:rPr sz="1800" b="1">
                <a:solidFill>
                  <a:srgbClr val="0B817C"/>
                </a:solidFill>
                <a:latin typeface="Arial"/>
                <a:ea typeface="Arial"/>
                <a:cs typeface="Arial"/>
              </a:rPr>
              <a:t>THE TASK</a:t>
            </a:r>
          </a:p>
        </p:txBody>
      </p:sp>
      <p:sp>
        <p:nvSpPr>
          <p:cNvPr id="5" name="">
            <a:extLst xmlns:a="http://schemas.openxmlformats.org/drawingml/2006/main">
              <a:ext uri="{FF2B5EF4-FFF2-40B4-BE49-F238E27FC236}">
                <a16:creationId xmlns:a16="http://schemas.microsoft.com/office/drawing/2014/main" id="{B12AD598-F3FC-4B84-AB6A-E46D20AD5F15}"/>
              </a:ext>
            </a:extLst>
          </p:cNvPr>
          <p:cNvSpPr>
            <a:spLocks xmlns:a="http://schemas.openxmlformats.org/drawingml/2006/main" noGrp="1"/>
          </p:cNvSpPr>
          <p:nvPr/>
        </p:nvSpPr>
        <p:spPr>
          <a:xfrm xmlns:a="http://schemas.openxmlformats.org/drawingml/2006/main">
            <a:off x="704850" y="2266950"/>
            <a:ext cx="4810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848"/>
          </a:bodyPr>
          <a:lstStyle xmlns:a="http://schemas.openxmlformats.org/drawingml/2006/main"/>
          <a:p xmlns:a="http://schemas.openxmlformats.org/drawingml/2006/main">
            <a:pPr algn="l">
              <a:buNone/>
              <a:defRPr sz="2550" b="1">
                <a:solidFill>
                  <a:srgbClr val="172B3A"/>
                </a:solidFill>
                <a:latin typeface="Arial"/>
                <a:ea typeface="Arial"/>
                <a:cs typeface="Arial"/>
              </a:defRPr>
            </a:pPr>
            <a:r>
              <a:rPr sz="2550" b="1">
                <a:solidFill>
                  <a:srgbClr val="172B3A"/>
                </a:solidFill>
                <a:latin typeface="Arial"/>
                <a:ea typeface="Arial"/>
                <a:cs typeface="Arial"/>
              </a:rPr>
              <a:t>Choose a safe response to a pedestrian crossing and a stop sign, then simulate the vehicle’s response.</a:t>
            </a:r>
          </a:p>
        </p:txBody>
      </p:sp>
      <p:sp>
        <p:nvSpPr>
          <p:cNvPr id="6" name="">
            <a:extLst xmlns:a="http://schemas.openxmlformats.org/drawingml/2006/main">
              <a:ext uri="{FF2B5EF4-FFF2-40B4-BE49-F238E27FC236}">
                <a16:creationId xmlns:a16="http://schemas.microsoft.com/office/drawing/2014/main" id="{002B7FEF-A8FD-4D31-A211-C1E851074A93}"/>
              </a:ext>
            </a:extLst>
          </p:cNvPr>
          <p:cNvSpPr>
            <a:spLocks xmlns:a="http://schemas.openxmlformats.org/drawingml/2006/main" noGrp="1"/>
          </p:cNvSpPr>
          <p:nvPr/>
        </p:nvSpPr>
        <p:spPr>
          <a:xfrm xmlns:a="http://schemas.openxmlformats.org/drawingml/2006/main">
            <a:off x="6096000" y="1847850"/>
            <a:ext cx="19050" cy="3143250"/>
          </a:xfrm>
          <a:prstGeom xmlns:a="http://schemas.openxmlformats.org/drawingml/2006/main" prst="rect">
            <a:avLst/>
          </a:prstGeom>
          <a:solidFill xmlns:a="http://schemas.openxmlformats.org/drawingml/2006/main">
            <a:srgbClr val="D9E0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75E58D7-92B1-4F5E-9F8E-1431BC5ACBA9}"/>
              </a:ext>
            </a:extLst>
          </p:cNvPr>
          <p:cNvSpPr>
            <a:spLocks xmlns:a="http://schemas.openxmlformats.org/drawingml/2006/main" noGrp="1"/>
          </p:cNvSpPr>
          <p:nvPr/>
        </p:nvSpPr>
        <p:spPr>
          <a:xfrm xmlns:a="http://schemas.openxmlformats.org/drawingml/2006/main">
            <a:off x="6667500" y="1876425"/>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0B817C"/>
                </a:solidFill>
                <a:latin typeface="Arial"/>
                <a:ea typeface="Arial"/>
                <a:cs typeface="Arial"/>
              </a:defRPr>
            </a:pPr>
            <a:r>
              <a:rPr sz="1800" b="1">
                <a:solidFill>
                  <a:srgbClr val="0B817C"/>
                </a:solidFill>
                <a:latin typeface="Arial"/>
                <a:ea typeface="Arial"/>
                <a:cs typeface="Arial"/>
              </a:rPr>
              <a:t>WHY THIS PROJECT</a:t>
            </a:r>
          </a:p>
        </p:txBody>
      </p:sp>
      <p:sp>
        <p:nvSpPr>
          <p:cNvPr id="8" name="">
            <a:extLst xmlns:a="http://schemas.openxmlformats.org/drawingml/2006/main">
              <a:ext uri="{FF2B5EF4-FFF2-40B4-BE49-F238E27FC236}">
                <a16:creationId xmlns:a16="http://schemas.microsoft.com/office/drawing/2014/main" id="{40D7554F-AAA2-450E-972F-10805D9B9576}"/>
              </a:ext>
            </a:extLst>
          </p:cNvPr>
          <p:cNvSpPr>
            <a:spLocks xmlns:a="http://schemas.openxmlformats.org/drawingml/2006/main" noGrp="1"/>
          </p:cNvSpPr>
          <p:nvPr/>
        </p:nvSpPr>
        <p:spPr>
          <a:xfrm xmlns:a="http://schemas.openxmlformats.org/drawingml/2006/main">
            <a:off x="6667500" y="2343150"/>
            <a:ext cx="4381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250" b="0">
                <a:solidFill>
                  <a:srgbClr val="172B3A"/>
                </a:solidFill>
                <a:latin typeface="Arial"/>
                <a:ea typeface="Arial"/>
                <a:cs typeface="Arial"/>
              </a:defRPr>
            </a:pPr>
            <a:r>
              <a:rPr sz="2250" b="0">
                <a:solidFill>
                  <a:srgbClr val="172B3A"/>
                </a:solidFill>
                <a:latin typeface="Arial"/>
                <a:ea typeface="Arial"/>
                <a:cs typeface="Arial"/>
              </a:rPr>
              <a:t>One short MATLAB script</a:t>
            </a:r>
          </a:p>
          <a:p xmlns:a="http://schemas.openxmlformats.org/drawingml/2006/main">
            <a:r>
              <a:t/>
            </a:r>
          </a:p>
          <a:p xmlns:a="http://schemas.openxmlformats.org/drawingml/2006/main">
            <a:pPr algn="l">
              <a:buNone/>
              <a:defRPr sz="2250" b="0">
                <a:solidFill>
                  <a:srgbClr val="172B3A"/>
                </a:solidFill>
                <a:latin typeface="Arial"/>
                <a:ea typeface="Arial"/>
                <a:cs typeface="Arial"/>
              </a:defRPr>
            </a:pPr>
            <a:r>
              <a:rPr sz="2250" b="0">
                <a:solidFill>
                  <a:srgbClr val="172B3A"/>
                </a:solidFill>
                <a:latin typeface="Arial"/>
                <a:ea typeface="Arial"/>
                <a:cs typeface="Arial"/>
              </a:rPr>
              <a:t>No simulator or external dataset</a:t>
            </a:r>
          </a:p>
          <a:p xmlns:a="http://schemas.openxmlformats.org/drawingml/2006/main">
            <a:r>
              <a:t/>
            </a:r>
          </a:p>
          <a:p xmlns:a="http://schemas.openxmlformats.org/drawingml/2006/main">
            <a:pPr algn="l">
              <a:buNone/>
              <a:defRPr sz="2250" b="0">
                <a:solidFill>
                  <a:srgbClr val="172B3A"/>
                </a:solidFill>
                <a:latin typeface="Arial"/>
                <a:ea typeface="Arial"/>
                <a:cs typeface="Arial"/>
              </a:defRPr>
            </a:pPr>
            <a:r>
              <a:rPr sz="2250" b="0">
                <a:solidFill>
                  <a:srgbClr val="172B3A"/>
                </a:solidFill>
                <a:latin typeface="Arial"/>
                <a:ea typeface="Arial"/>
                <a:cs typeface="Arial"/>
              </a:rPr>
              <a:t>Easy to explain as four driving states</a:t>
            </a:r>
          </a:p>
        </p:txBody>
      </p:sp>
      <p:sp>
        <p:nvSpPr>
          <p:cNvPr id="9" name="">
            <a:extLst xmlns:a="http://schemas.openxmlformats.org/drawingml/2006/main">
              <a:ext uri="{FF2B5EF4-FFF2-40B4-BE49-F238E27FC236}">
                <a16:creationId xmlns:a16="http://schemas.microsoft.com/office/drawing/2014/main" id="{BFF4819B-2B01-4E0A-A7E4-DE5A163962A9}"/>
              </a:ext>
            </a:extLst>
          </p:cNvPr>
          <p:cNvSpPr>
            <a:spLocks xmlns:a="http://schemas.openxmlformats.org/drawingml/2006/main" noGrp="1"/>
          </p:cNvSpPr>
          <p:nvPr/>
        </p:nvSpPr>
        <p:spPr>
          <a:xfrm xmlns:a="http://schemas.openxmlformats.org/drawingml/2006/main">
            <a:off x="704850" y="5438775"/>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0">
                <a:solidFill>
                  <a:srgbClr val="4F6170"/>
                </a:solidFill>
                <a:latin typeface="Arial"/>
                <a:ea typeface="Arial"/>
                <a:cs typeface="Arial"/>
              </a:defRPr>
            </a:pPr>
            <a:r>
              <a:rPr sz="1800" b="0">
                <a:solidFill>
                  <a:srgbClr val="4F6170"/>
                </a:solidFill>
                <a:latin typeface="Arial"/>
                <a:ea typeface="Arial"/>
                <a:cs typeface="Arial"/>
              </a:rPr>
              <a:t>The controller uses simple rules. It is designed for learning and demonstration.</a:t>
            </a:r>
          </a:p>
        </p:txBody>
      </p:sp>
    </p:spTree>
    <p:extLst>
      <p:ext uri="{BB962C8B-B14F-4D97-AF65-F5344CB8AC3E}">
        <p14:creationId xmlns:p14="http://schemas.microsoft.com/office/powerpoint/2010/main" val="557486013"/>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A39A19C-CC67-455B-BE8C-20089208C6B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B817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AAA1B7-9BB2-48EE-96F4-9EFCEDD1D462}"/>
              </a:ext>
            </a:extLst>
          </p:cNvPr>
          <p:cNvSpPr>
            <a:spLocks xmlns:a="http://schemas.openxmlformats.org/drawingml/2006/main" noGrp="1"/>
          </p:cNvSpPr>
          <p:nvPr/>
        </p:nvSpPr>
        <p:spPr>
          <a:xfrm xmlns:a="http://schemas.openxmlformats.org/drawingml/2006/main">
            <a:off x="609600" y="4000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450" b="1">
                <a:solidFill>
                  <a:srgbClr val="14304A"/>
                </a:solidFill>
                <a:latin typeface="Arial"/>
                <a:ea typeface="Arial"/>
                <a:cs typeface="Arial"/>
              </a:defRPr>
            </a:pPr>
            <a:r>
              <a:rPr sz="3450" b="1">
                <a:solidFill>
                  <a:srgbClr val="14304A"/>
                </a:solidFill>
                <a:latin typeface="Arial"/>
                <a:ea typeface="Arial"/>
                <a:cs typeface="Arial"/>
              </a:rPr>
              <a:t>The driving scenario</a:t>
            </a:r>
          </a:p>
        </p:txBody>
      </p:sp>
      <p:sp>
        <p:nvSpPr>
          <p:cNvPr id="3" name="">
            <a:extLst xmlns:a="http://schemas.openxmlformats.org/drawingml/2006/main">
              <a:ext uri="{FF2B5EF4-FFF2-40B4-BE49-F238E27FC236}">
                <a16:creationId xmlns:a16="http://schemas.microsoft.com/office/drawing/2014/main" id="{2D8AE0C4-DA16-4C89-824E-989EA44637D1}"/>
              </a:ext>
            </a:extLst>
          </p:cNvPr>
          <p:cNvSpPr>
            <a:spLocks xmlns:a="http://schemas.openxmlformats.org/drawingml/2006/main" noGrp="1"/>
          </p:cNvSpPr>
          <p:nvPr/>
        </p:nvSpPr>
        <p:spPr>
          <a:xfrm xmlns:a="http://schemas.openxmlformats.org/drawingml/2006/main">
            <a:off x="628650" y="1009650"/>
            <a:ext cx="1090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0">
                <a:solidFill>
                  <a:srgbClr val="4F6170"/>
                </a:solidFill>
                <a:latin typeface="Arial"/>
                <a:ea typeface="Arial"/>
                <a:cs typeface="Arial"/>
              </a:defRPr>
            </a:pPr>
            <a:r>
              <a:rPr sz="1800" b="0">
                <a:solidFill>
                  <a:srgbClr val="4F6170"/>
                </a:solidFill>
                <a:latin typeface="Arial"/>
                <a:ea typeface="Arial"/>
                <a:cs typeface="Arial"/>
              </a:rPr>
              <a:t>The script creates two events along a straight road</a:t>
            </a:r>
          </a:p>
        </p:txBody>
      </p:sp>
      <p:sp>
        <p:nvSpPr>
          <p:cNvPr id="4" name="">
            <a:extLst xmlns:a="http://schemas.openxmlformats.org/drawingml/2006/main">
              <a:ext uri="{FF2B5EF4-FFF2-40B4-BE49-F238E27FC236}">
                <a16:creationId xmlns:a16="http://schemas.microsoft.com/office/drawing/2014/main" id="{5DFC4CCE-6E19-477B-9ECB-9EBBDA8E7A2A}"/>
              </a:ext>
            </a:extLst>
          </p:cNvPr>
          <p:cNvSpPr>
            <a:spLocks xmlns:a="http://schemas.openxmlformats.org/drawingml/2006/main" noGrp="1"/>
          </p:cNvSpPr>
          <p:nvPr/>
        </p:nvSpPr>
        <p:spPr>
          <a:xfrm xmlns:a="http://schemas.openxmlformats.org/drawingml/2006/main">
            <a:off x="895350" y="2914650"/>
            <a:ext cx="10287000" cy="38100"/>
          </a:xfrm>
          <a:prstGeom xmlns:a="http://schemas.openxmlformats.org/drawingml/2006/main" prst="rect">
            <a:avLst/>
          </a:prstGeom>
          <a:solidFill xmlns:a="http://schemas.openxmlformats.org/drawingml/2006/main">
            <a:srgbClr val="14304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E3FE72F-807A-4340-9234-AE7C1F3AB848}"/>
              </a:ext>
            </a:extLst>
          </p:cNvPr>
          <p:cNvSpPr>
            <a:spLocks xmlns:a="http://schemas.openxmlformats.org/drawingml/2006/main" noGrp="1"/>
          </p:cNvSpPr>
          <p:nvPr/>
        </p:nvSpPr>
        <p:spPr>
          <a:xfrm xmlns:a="http://schemas.openxmlformats.org/drawingml/2006/main">
            <a:off x="4171950" y="2752725"/>
            <a:ext cx="76200" cy="361950"/>
          </a:xfrm>
          <a:prstGeom xmlns:a="http://schemas.openxmlformats.org/drawingml/2006/main" prst="rect">
            <a:avLst/>
          </a:prstGeom>
          <a:solidFill xmlns:a="http://schemas.openxmlformats.org/drawingml/2006/main">
            <a:srgbClr val="D68A2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778BC40-9205-41A0-8041-A46DC06A0F77}"/>
              </a:ext>
            </a:extLst>
          </p:cNvPr>
          <p:cNvSpPr>
            <a:spLocks xmlns:a="http://schemas.openxmlformats.org/drawingml/2006/main" noGrp="1"/>
          </p:cNvSpPr>
          <p:nvPr/>
        </p:nvSpPr>
        <p:spPr>
          <a:xfrm xmlns:a="http://schemas.openxmlformats.org/drawingml/2006/main">
            <a:off x="4191000" y="2752725"/>
            <a:ext cx="76200" cy="361950"/>
          </a:xfrm>
          <a:prstGeom xmlns:a="http://schemas.openxmlformats.org/drawingml/2006/main" prst="rect">
            <a:avLst/>
          </a:prstGeom>
          <a:solidFill xmlns:a="http://schemas.openxmlformats.org/drawingml/2006/main">
            <a:srgbClr val="D68A2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5A5C6EF-FEF4-4010-A00B-D707E4BCCAB2}"/>
              </a:ext>
            </a:extLst>
          </p:cNvPr>
          <p:cNvSpPr>
            <a:spLocks xmlns:a="http://schemas.openxmlformats.org/drawingml/2006/main" noGrp="1"/>
          </p:cNvSpPr>
          <p:nvPr/>
        </p:nvSpPr>
        <p:spPr>
          <a:xfrm xmlns:a="http://schemas.openxmlformats.org/drawingml/2006/main">
            <a:off x="8982075" y="2752725"/>
            <a:ext cx="76200" cy="361950"/>
          </a:xfrm>
          <a:prstGeom xmlns:a="http://schemas.openxmlformats.org/drawingml/2006/main" prst="rect">
            <a:avLst/>
          </a:prstGeom>
          <a:solidFill xmlns:a="http://schemas.openxmlformats.org/drawingml/2006/main">
            <a:srgbClr val="BD4C4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8BA8A87-6A42-4EC7-9CD9-E4AB3F4E626C}"/>
              </a:ext>
            </a:extLst>
          </p:cNvPr>
          <p:cNvSpPr>
            <a:spLocks xmlns:a="http://schemas.openxmlformats.org/drawingml/2006/main" noGrp="1"/>
          </p:cNvSpPr>
          <p:nvPr/>
        </p:nvSpPr>
        <p:spPr>
          <a:xfrm xmlns:a="http://schemas.openxmlformats.org/drawingml/2006/main">
            <a:off x="895350" y="31813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4F6170"/>
                </a:solidFill>
                <a:latin typeface="Arial"/>
                <a:ea typeface="Arial"/>
                <a:cs typeface="Arial"/>
              </a:defRPr>
            </a:pPr>
            <a:r>
              <a:rPr sz="1650" b="1">
                <a:solidFill>
                  <a:srgbClr val="4F6170"/>
                </a:solidFill>
                <a:latin typeface="Arial"/>
                <a:ea typeface="Arial"/>
                <a:cs typeface="Arial"/>
              </a:rPr>
              <a:t>START</a:t>
            </a:r>
          </a:p>
        </p:txBody>
      </p:sp>
      <p:sp>
        <p:nvSpPr>
          <p:cNvPr id="9" name="">
            <a:extLst xmlns:a="http://schemas.openxmlformats.org/drawingml/2006/main">
              <a:ext uri="{FF2B5EF4-FFF2-40B4-BE49-F238E27FC236}">
                <a16:creationId xmlns:a16="http://schemas.microsoft.com/office/drawing/2014/main" id="{FAC62E57-D3ED-4FC3-ADAC-E7FFB72C376A}"/>
              </a:ext>
            </a:extLst>
          </p:cNvPr>
          <p:cNvSpPr>
            <a:spLocks xmlns:a="http://schemas.openxmlformats.org/drawingml/2006/main" noGrp="1"/>
          </p:cNvSpPr>
          <p:nvPr/>
        </p:nvSpPr>
        <p:spPr>
          <a:xfrm xmlns:a="http://schemas.openxmlformats.org/drawingml/2006/main">
            <a:off x="3114675" y="1809750"/>
            <a:ext cx="2286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75" b="1">
                <a:solidFill>
                  <a:srgbClr val="D68A21"/>
                </a:solidFill>
                <a:latin typeface="Arial"/>
                <a:ea typeface="Arial"/>
                <a:cs typeface="Arial"/>
              </a:defRPr>
            </a:pPr>
            <a:r>
              <a:rPr sz="1875" b="1">
                <a:solidFill>
                  <a:srgbClr val="D68A21"/>
                </a:solidFill>
                <a:latin typeface="Arial"/>
                <a:ea typeface="Arial"/>
                <a:cs typeface="Arial"/>
              </a:rPr>
              <a:t>PEDESTRIAN</a:t>
            </a:r>
          </a:p>
          <a:p xmlns:a="http://schemas.openxmlformats.org/drawingml/2006/main">
            <a:pPr algn="ctr">
              <a:buNone/>
              <a:defRPr sz="1875" b="1">
                <a:solidFill>
                  <a:srgbClr val="D68A21"/>
                </a:solidFill>
                <a:latin typeface="Arial"/>
                <a:ea typeface="Arial"/>
                <a:cs typeface="Arial"/>
              </a:defRPr>
            </a:pPr>
            <a:r>
              <a:rPr sz="1875" b="1">
                <a:solidFill>
                  <a:srgbClr val="D68A21"/>
                </a:solidFill>
                <a:latin typeface="Arial"/>
                <a:ea typeface="Arial"/>
                <a:cs typeface="Arial"/>
              </a:rPr>
              <a:t>CROSSING</a:t>
            </a:r>
          </a:p>
        </p:txBody>
      </p:sp>
      <p:sp>
        <p:nvSpPr>
          <p:cNvPr id="10" name="">
            <a:extLst xmlns:a="http://schemas.openxmlformats.org/drawingml/2006/main">
              <a:ext uri="{FF2B5EF4-FFF2-40B4-BE49-F238E27FC236}">
                <a16:creationId xmlns:a16="http://schemas.microsoft.com/office/drawing/2014/main" id="{30CC2D9D-4892-4173-A3C8-7B267FC66446}"/>
              </a:ext>
            </a:extLst>
          </p:cNvPr>
          <p:cNvSpPr>
            <a:spLocks xmlns:a="http://schemas.openxmlformats.org/drawingml/2006/main" noGrp="1"/>
          </p:cNvSpPr>
          <p:nvPr/>
        </p:nvSpPr>
        <p:spPr>
          <a:xfrm xmlns:a="http://schemas.openxmlformats.org/drawingml/2006/main">
            <a:off x="8172450" y="1809750"/>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75" b="1">
                <a:solidFill>
                  <a:srgbClr val="BD4C45"/>
                </a:solidFill>
                <a:latin typeface="Arial"/>
                <a:ea typeface="Arial"/>
                <a:cs typeface="Arial"/>
              </a:defRPr>
            </a:pPr>
            <a:r>
              <a:rPr sz="1875" b="1">
                <a:solidFill>
                  <a:srgbClr val="BD4C45"/>
                </a:solidFill>
                <a:latin typeface="Arial"/>
                <a:ea typeface="Arial"/>
                <a:cs typeface="Arial"/>
              </a:rPr>
              <a:t>STOP SIGN</a:t>
            </a:r>
          </a:p>
        </p:txBody>
      </p:sp>
      <p:sp>
        <p:nvSpPr>
          <p:cNvPr id="11" name="">
            <a:extLst xmlns:a="http://schemas.openxmlformats.org/drawingml/2006/main">
              <a:ext uri="{FF2B5EF4-FFF2-40B4-BE49-F238E27FC236}">
                <a16:creationId xmlns:a16="http://schemas.microsoft.com/office/drawing/2014/main" id="{59CD9934-7754-484A-96CB-E3C5329D511B}"/>
              </a:ext>
            </a:extLst>
          </p:cNvPr>
          <p:cNvSpPr>
            <a:spLocks xmlns:a="http://schemas.openxmlformats.org/drawingml/2006/main" noGrp="1"/>
          </p:cNvSpPr>
          <p:nvPr/>
        </p:nvSpPr>
        <p:spPr>
          <a:xfrm xmlns:a="http://schemas.openxmlformats.org/drawingml/2006/main">
            <a:off x="3714750" y="324802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0">
                <a:solidFill>
                  <a:srgbClr val="4F6170"/>
                </a:solidFill>
                <a:latin typeface="Arial"/>
                <a:ea typeface="Arial"/>
                <a:cs typeface="Arial"/>
              </a:defRPr>
            </a:pPr>
            <a:r>
              <a:rPr sz="1650" b="0">
                <a:solidFill>
                  <a:srgbClr val="4F6170"/>
                </a:solidFill>
                <a:latin typeface="Arial"/>
                <a:ea typeface="Arial"/>
                <a:cs typeface="Arial"/>
              </a:rPr>
              <a:t>45 m</a:t>
            </a:r>
          </a:p>
        </p:txBody>
      </p:sp>
      <p:sp>
        <p:nvSpPr>
          <p:cNvPr id="12" name="">
            <a:extLst xmlns:a="http://schemas.openxmlformats.org/drawingml/2006/main">
              <a:ext uri="{FF2B5EF4-FFF2-40B4-BE49-F238E27FC236}">
                <a16:creationId xmlns:a16="http://schemas.microsoft.com/office/drawing/2014/main" id="{7C0E40E3-B479-4652-B22F-484D16BCCE3B}"/>
              </a:ext>
            </a:extLst>
          </p:cNvPr>
          <p:cNvSpPr>
            <a:spLocks xmlns:a="http://schemas.openxmlformats.org/drawingml/2006/main" noGrp="1"/>
          </p:cNvSpPr>
          <p:nvPr/>
        </p:nvSpPr>
        <p:spPr>
          <a:xfrm xmlns:a="http://schemas.openxmlformats.org/drawingml/2006/main">
            <a:off x="8534400" y="3248025"/>
            <a:ext cx="104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0">
                <a:solidFill>
                  <a:srgbClr val="4F6170"/>
                </a:solidFill>
                <a:latin typeface="Arial"/>
                <a:ea typeface="Arial"/>
                <a:cs typeface="Arial"/>
              </a:defRPr>
            </a:pPr>
            <a:r>
              <a:rPr sz="1650" b="0">
                <a:solidFill>
                  <a:srgbClr val="4F6170"/>
                </a:solidFill>
                <a:latin typeface="Arial"/>
                <a:ea typeface="Arial"/>
                <a:cs typeface="Arial"/>
              </a:rPr>
              <a:t>105 m</a:t>
            </a:r>
          </a:p>
        </p:txBody>
      </p:sp>
      <p:sp>
        <p:nvSpPr>
          <p:cNvPr id="13" name="">
            <a:extLst xmlns:a="http://schemas.openxmlformats.org/drawingml/2006/main">
              <a:ext uri="{FF2B5EF4-FFF2-40B4-BE49-F238E27FC236}">
                <a16:creationId xmlns:a16="http://schemas.microsoft.com/office/drawing/2014/main" id="{5CE96319-2E3B-4623-82DC-21DB15362C86}"/>
              </a:ext>
            </a:extLst>
          </p:cNvPr>
          <p:cNvSpPr>
            <a:spLocks xmlns:a="http://schemas.openxmlformats.org/drawingml/2006/main" noGrp="1"/>
          </p:cNvSpPr>
          <p:nvPr/>
        </p:nvSpPr>
        <p:spPr>
          <a:xfrm xmlns:a="http://schemas.openxmlformats.org/drawingml/2006/main">
            <a:off x="904875" y="4219575"/>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175" b="1">
                <a:solidFill>
                  <a:srgbClr val="172B3A"/>
                </a:solidFill>
                <a:latin typeface="Arial"/>
                <a:ea typeface="Arial"/>
                <a:cs typeface="Arial"/>
              </a:defRPr>
            </a:pPr>
            <a:r>
              <a:rPr sz="2175" b="1">
                <a:solidFill>
                  <a:srgbClr val="172B3A"/>
                </a:solidFill>
                <a:latin typeface="Arial"/>
                <a:ea typeface="Arial"/>
                <a:cs typeface="Arial"/>
              </a:rPr>
              <a:t>The pedestrian is present from 4 to 8 seconds. The vehicle aims for 8 m/s (28.8 km/h).</a:t>
            </a:r>
          </a:p>
        </p:txBody>
      </p:sp>
      <p:sp>
        <p:nvSpPr>
          <p:cNvPr id="14" name="">
            <a:extLst xmlns:a="http://schemas.openxmlformats.org/drawingml/2006/main">
              <a:ext uri="{FF2B5EF4-FFF2-40B4-BE49-F238E27FC236}">
                <a16:creationId xmlns:a16="http://schemas.microsoft.com/office/drawing/2014/main" id="{A2843F09-F9FA-4FE4-B0CE-9095E1724E6E}"/>
              </a:ext>
            </a:extLst>
          </p:cNvPr>
          <p:cNvSpPr>
            <a:spLocks xmlns:a="http://schemas.openxmlformats.org/drawingml/2006/main" noGrp="1"/>
          </p:cNvSpPr>
          <p:nvPr/>
        </p:nvSpPr>
        <p:spPr>
          <a:xfrm xmlns:a="http://schemas.openxmlformats.org/drawingml/2006/main">
            <a:off x="904875" y="513397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0">
                <a:solidFill>
                  <a:srgbClr val="4F6170"/>
                </a:solidFill>
                <a:latin typeface="Arial"/>
                <a:ea typeface="Arial"/>
                <a:cs typeface="Arial"/>
              </a:defRPr>
            </a:pPr>
            <a:r>
              <a:rPr sz="1875" b="0">
                <a:solidFill>
                  <a:srgbClr val="4F6170"/>
                </a:solidFill>
                <a:latin typeface="Arial"/>
                <a:ea typeface="Arial"/>
                <a:cs typeface="Arial"/>
              </a:rPr>
              <a:t>At the stop sign, the controller waits 2.5 seconds before starting a 3-second right turn.</a:t>
            </a:r>
          </a:p>
        </p:txBody>
      </p:sp>
    </p:spTree>
    <p:extLst>
      <p:ext uri="{BB962C8B-B14F-4D97-AF65-F5344CB8AC3E}">
        <p14:creationId xmlns:p14="http://schemas.microsoft.com/office/powerpoint/2010/main" val="726832783"/>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FFE7C6B-FC2B-421E-997E-D494D831AC5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B817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A9FB64-C3EF-48F3-A13B-B2FA2858016F}"/>
              </a:ext>
            </a:extLst>
          </p:cNvPr>
          <p:cNvSpPr>
            <a:spLocks xmlns:a="http://schemas.openxmlformats.org/drawingml/2006/main" noGrp="1"/>
          </p:cNvSpPr>
          <p:nvPr/>
        </p:nvSpPr>
        <p:spPr>
          <a:xfrm xmlns:a="http://schemas.openxmlformats.org/drawingml/2006/main">
            <a:off x="609600" y="4000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450" b="1">
                <a:solidFill>
                  <a:srgbClr val="14304A"/>
                </a:solidFill>
                <a:latin typeface="Arial"/>
                <a:ea typeface="Arial"/>
                <a:cs typeface="Arial"/>
              </a:defRPr>
            </a:pPr>
            <a:r>
              <a:rPr sz="3450" b="1">
                <a:solidFill>
                  <a:srgbClr val="14304A"/>
                </a:solidFill>
                <a:latin typeface="Arial"/>
                <a:ea typeface="Arial"/>
                <a:cs typeface="Arial"/>
              </a:rPr>
              <a:t>Four decisions</a:t>
            </a:r>
          </a:p>
        </p:txBody>
      </p:sp>
      <p:sp>
        <p:nvSpPr>
          <p:cNvPr id="3" name="">
            <a:extLst xmlns:a="http://schemas.openxmlformats.org/drawingml/2006/main">
              <a:ext uri="{FF2B5EF4-FFF2-40B4-BE49-F238E27FC236}">
                <a16:creationId xmlns:a16="http://schemas.microsoft.com/office/drawing/2014/main" id="{D48D2EA7-85A8-42F7-8620-58607E96DB64}"/>
              </a:ext>
            </a:extLst>
          </p:cNvPr>
          <p:cNvSpPr>
            <a:spLocks xmlns:a="http://schemas.openxmlformats.org/drawingml/2006/main" noGrp="1"/>
          </p:cNvSpPr>
          <p:nvPr/>
        </p:nvSpPr>
        <p:spPr>
          <a:xfrm xmlns:a="http://schemas.openxmlformats.org/drawingml/2006/main">
            <a:off x="628650" y="1009650"/>
            <a:ext cx="1090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0">
                <a:solidFill>
                  <a:srgbClr val="4F6170"/>
                </a:solidFill>
                <a:latin typeface="Arial"/>
                <a:ea typeface="Arial"/>
                <a:cs typeface="Arial"/>
              </a:defRPr>
            </a:pPr>
            <a:r>
              <a:rPr sz="1800" b="0">
                <a:solidFill>
                  <a:srgbClr val="4F6170"/>
                </a:solidFill>
                <a:latin typeface="Arial"/>
                <a:ea typeface="Arial"/>
                <a:cs typeface="Arial"/>
              </a:rPr>
              <a:t>The pedestrian check has priority while the crossing is occupied</a:t>
            </a:r>
          </a:p>
        </p:txBody>
      </p:sp>
      <p:sp>
        <p:nvSpPr>
          <p:cNvPr id="4" name="">
            <a:extLst xmlns:a="http://schemas.openxmlformats.org/drawingml/2006/main">
              <a:ext uri="{FF2B5EF4-FFF2-40B4-BE49-F238E27FC236}">
                <a16:creationId xmlns:a16="http://schemas.microsoft.com/office/drawing/2014/main" id="{085D1504-88A5-4285-9E65-22BEEA0A486F}"/>
              </a:ext>
            </a:extLst>
          </p:cNvPr>
          <p:cNvSpPr>
            <a:spLocks xmlns:a="http://schemas.openxmlformats.org/drawingml/2006/main" noGrp="1"/>
          </p:cNvSpPr>
          <p:nvPr/>
        </p:nvSpPr>
        <p:spPr>
          <a:xfrm xmlns:a="http://schemas.openxmlformats.org/drawingml/2006/main">
            <a:off x="685800" y="2133600"/>
            <a:ext cx="47625" cy="2381250"/>
          </a:xfrm>
          <a:prstGeom xmlns:a="http://schemas.openxmlformats.org/drawingml/2006/main" prst="rect">
            <a:avLst/>
          </a:prstGeom>
          <a:solidFill xmlns:a="http://schemas.openxmlformats.org/drawingml/2006/main">
            <a:srgbClr val="3387D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5DC76FA-69FC-4413-9582-A7C29C052CEF}"/>
              </a:ext>
            </a:extLst>
          </p:cNvPr>
          <p:cNvSpPr>
            <a:spLocks xmlns:a="http://schemas.openxmlformats.org/drawingml/2006/main" noGrp="1"/>
          </p:cNvSpPr>
          <p:nvPr/>
        </p:nvSpPr>
        <p:spPr>
          <a:xfrm xmlns:a="http://schemas.openxmlformats.org/drawingml/2006/main">
            <a:off x="876300" y="21240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3387D7"/>
                </a:solidFill>
                <a:latin typeface="Arial"/>
                <a:ea typeface="Arial"/>
                <a:cs typeface="Arial"/>
              </a:defRPr>
            </a:pPr>
            <a:r>
              <a:rPr sz="1650" b="1">
                <a:solidFill>
                  <a:srgbClr val="3387D7"/>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3BF5DE21-7D8F-40B6-A365-28F0A5F96C0A}"/>
              </a:ext>
            </a:extLst>
          </p:cNvPr>
          <p:cNvSpPr>
            <a:spLocks xmlns:a="http://schemas.openxmlformats.org/drawingml/2006/main" noGrp="1"/>
          </p:cNvSpPr>
          <p:nvPr/>
        </p:nvSpPr>
        <p:spPr>
          <a:xfrm xmlns:a="http://schemas.openxmlformats.org/drawingml/2006/main">
            <a:off x="876300" y="260032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14304A"/>
                </a:solidFill>
                <a:latin typeface="Arial"/>
                <a:ea typeface="Arial"/>
                <a:cs typeface="Arial"/>
              </a:defRPr>
            </a:pPr>
            <a:r>
              <a:rPr sz="1950" b="1">
                <a:solidFill>
                  <a:srgbClr val="14304A"/>
                </a:solidFill>
                <a:latin typeface="Arial"/>
                <a:ea typeface="Arial"/>
                <a:cs typeface="Arial"/>
              </a:rPr>
              <a:t>DRIVE</a:t>
            </a:r>
          </a:p>
        </p:txBody>
      </p:sp>
      <p:sp>
        <p:nvSpPr>
          <p:cNvPr id="7" name="">
            <a:extLst xmlns:a="http://schemas.openxmlformats.org/drawingml/2006/main">
              <a:ext uri="{FF2B5EF4-FFF2-40B4-BE49-F238E27FC236}">
                <a16:creationId xmlns:a16="http://schemas.microsoft.com/office/drawing/2014/main" id="{0A572FA5-0BB6-4159-AF9B-9B91B10E5841}"/>
              </a:ext>
            </a:extLst>
          </p:cNvPr>
          <p:cNvSpPr>
            <a:spLocks xmlns:a="http://schemas.openxmlformats.org/drawingml/2006/main" noGrp="1"/>
          </p:cNvSpPr>
          <p:nvPr/>
        </p:nvSpPr>
        <p:spPr>
          <a:xfrm xmlns:a="http://schemas.openxmlformats.org/drawingml/2006/main">
            <a:off x="876300" y="3171825"/>
            <a:ext cx="2190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0">
                <a:solidFill>
                  <a:srgbClr val="172B3A"/>
                </a:solidFill>
                <a:latin typeface="Arial"/>
                <a:ea typeface="Arial"/>
                <a:cs typeface="Arial"/>
              </a:defRPr>
            </a:pPr>
            <a:r>
              <a:rPr sz="1725" b="0">
                <a:solidFill>
                  <a:srgbClr val="172B3A"/>
                </a:solidFill>
                <a:latin typeface="Arial"/>
                <a:ea typeface="Arial"/>
                <a:cs typeface="Arial"/>
              </a:rPr>
              <a:t>Move toward the target speed when the road is clear.</a:t>
            </a:r>
          </a:p>
        </p:txBody>
      </p:sp>
      <p:sp>
        <p:nvSpPr>
          <p:cNvPr id="8" name="">
            <a:extLst xmlns:a="http://schemas.openxmlformats.org/drawingml/2006/main">
              <a:ext uri="{FF2B5EF4-FFF2-40B4-BE49-F238E27FC236}">
                <a16:creationId xmlns:a16="http://schemas.microsoft.com/office/drawing/2014/main" id="{D67A95ED-3253-4CEE-B25C-215E0E345227}"/>
              </a:ext>
            </a:extLst>
          </p:cNvPr>
          <p:cNvSpPr>
            <a:spLocks xmlns:a="http://schemas.openxmlformats.org/drawingml/2006/main" noGrp="1"/>
          </p:cNvSpPr>
          <p:nvPr/>
        </p:nvSpPr>
        <p:spPr>
          <a:xfrm xmlns:a="http://schemas.openxmlformats.org/drawingml/2006/main">
            <a:off x="3476625" y="2133600"/>
            <a:ext cx="47625" cy="2381250"/>
          </a:xfrm>
          <a:prstGeom xmlns:a="http://schemas.openxmlformats.org/drawingml/2006/main" prst="rect">
            <a:avLst/>
          </a:prstGeom>
          <a:solidFill xmlns:a="http://schemas.openxmlformats.org/drawingml/2006/main">
            <a:srgbClr val="D68A2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0074840-C75B-4BCE-97E9-683B73C1A584}"/>
              </a:ext>
            </a:extLst>
          </p:cNvPr>
          <p:cNvSpPr>
            <a:spLocks xmlns:a="http://schemas.openxmlformats.org/drawingml/2006/main" noGrp="1"/>
          </p:cNvSpPr>
          <p:nvPr/>
        </p:nvSpPr>
        <p:spPr>
          <a:xfrm xmlns:a="http://schemas.openxmlformats.org/drawingml/2006/main">
            <a:off x="3667125" y="21240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D68A21"/>
                </a:solidFill>
                <a:latin typeface="Arial"/>
                <a:ea typeface="Arial"/>
                <a:cs typeface="Arial"/>
              </a:defRPr>
            </a:pPr>
            <a:r>
              <a:rPr sz="1650" b="1">
                <a:solidFill>
                  <a:srgbClr val="D68A21"/>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C621D08B-EEE6-4CD0-A923-D962EC488DA1}"/>
              </a:ext>
            </a:extLst>
          </p:cNvPr>
          <p:cNvSpPr>
            <a:spLocks xmlns:a="http://schemas.openxmlformats.org/drawingml/2006/main" noGrp="1"/>
          </p:cNvSpPr>
          <p:nvPr/>
        </p:nvSpPr>
        <p:spPr>
          <a:xfrm xmlns:a="http://schemas.openxmlformats.org/drawingml/2006/main">
            <a:off x="3667125" y="260032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14304A"/>
                </a:solidFill>
                <a:latin typeface="Arial"/>
                <a:ea typeface="Arial"/>
                <a:cs typeface="Arial"/>
              </a:defRPr>
            </a:pPr>
            <a:r>
              <a:rPr sz="1950" b="1">
                <a:solidFill>
                  <a:srgbClr val="14304A"/>
                </a:solidFill>
                <a:latin typeface="Arial"/>
                <a:ea typeface="Arial"/>
                <a:cs typeface="Arial"/>
              </a:rPr>
              <a:t>YIELD</a:t>
            </a:r>
          </a:p>
        </p:txBody>
      </p:sp>
      <p:sp>
        <p:nvSpPr>
          <p:cNvPr id="11" name="">
            <a:extLst xmlns:a="http://schemas.openxmlformats.org/drawingml/2006/main">
              <a:ext uri="{FF2B5EF4-FFF2-40B4-BE49-F238E27FC236}">
                <a16:creationId xmlns:a16="http://schemas.microsoft.com/office/drawing/2014/main" id="{FF60EB7F-624C-416A-A641-8DC32516A1FC}"/>
              </a:ext>
            </a:extLst>
          </p:cNvPr>
          <p:cNvSpPr>
            <a:spLocks xmlns:a="http://schemas.openxmlformats.org/drawingml/2006/main" noGrp="1"/>
          </p:cNvSpPr>
          <p:nvPr/>
        </p:nvSpPr>
        <p:spPr>
          <a:xfrm xmlns:a="http://schemas.openxmlformats.org/drawingml/2006/main">
            <a:off x="3667125" y="3171825"/>
            <a:ext cx="2190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0">
                <a:solidFill>
                  <a:srgbClr val="172B3A"/>
                </a:solidFill>
                <a:latin typeface="Arial"/>
                <a:ea typeface="Arial"/>
                <a:cs typeface="Arial"/>
              </a:defRPr>
            </a:pPr>
            <a:r>
              <a:rPr sz="1725" b="0">
                <a:solidFill>
                  <a:srgbClr val="172B3A"/>
                </a:solidFill>
                <a:latin typeface="Arial"/>
                <a:ea typeface="Arial"/>
                <a:cs typeface="Arial"/>
              </a:rPr>
              <a:t>Brake while the pedestrian is at the crossing.</a:t>
            </a:r>
          </a:p>
        </p:txBody>
      </p:sp>
      <p:sp>
        <p:nvSpPr>
          <p:cNvPr id="12" name="">
            <a:extLst xmlns:a="http://schemas.openxmlformats.org/drawingml/2006/main">
              <a:ext uri="{FF2B5EF4-FFF2-40B4-BE49-F238E27FC236}">
                <a16:creationId xmlns:a16="http://schemas.microsoft.com/office/drawing/2014/main" id="{52DF85F0-1602-45DA-AABF-28E71DA55B40}"/>
              </a:ext>
            </a:extLst>
          </p:cNvPr>
          <p:cNvSpPr>
            <a:spLocks xmlns:a="http://schemas.openxmlformats.org/drawingml/2006/main" noGrp="1"/>
          </p:cNvSpPr>
          <p:nvPr/>
        </p:nvSpPr>
        <p:spPr>
          <a:xfrm xmlns:a="http://schemas.openxmlformats.org/drawingml/2006/main">
            <a:off x="6267450" y="2133600"/>
            <a:ext cx="47625" cy="2381250"/>
          </a:xfrm>
          <a:prstGeom xmlns:a="http://schemas.openxmlformats.org/drawingml/2006/main" prst="rect">
            <a:avLst/>
          </a:prstGeom>
          <a:solidFill xmlns:a="http://schemas.openxmlformats.org/drawingml/2006/main">
            <a:srgbClr val="BD4C4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E12BC8E-B0FF-4463-AC73-2CB8C063D1C9}"/>
              </a:ext>
            </a:extLst>
          </p:cNvPr>
          <p:cNvSpPr>
            <a:spLocks xmlns:a="http://schemas.openxmlformats.org/drawingml/2006/main" noGrp="1"/>
          </p:cNvSpPr>
          <p:nvPr/>
        </p:nvSpPr>
        <p:spPr>
          <a:xfrm xmlns:a="http://schemas.openxmlformats.org/drawingml/2006/main">
            <a:off x="6457950" y="21240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BD4C45"/>
                </a:solidFill>
                <a:latin typeface="Arial"/>
                <a:ea typeface="Arial"/>
                <a:cs typeface="Arial"/>
              </a:defRPr>
            </a:pPr>
            <a:r>
              <a:rPr sz="1650" b="1">
                <a:solidFill>
                  <a:srgbClr val="BD4C45"/>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3D257272-4FD5-4CB2-BC5C-63D1CD76F03C}"/>
              </a:ext>
            </a:extLst>
          </p:cNvPr>
          <p:cNvSpPr>
            <a:spLocks xmlns:a="http://schemas.openxmlformats.org/drawingml/2006/main" noGrp="1"/>
          </p:cNvSpPr>
          <p:nvPr/>
        </p:nvSpPr>
        <p:spPr>
          <a:xfrm xmlns:a="http://schemas.openxmlformats.org/drawingml/2006/main">
            <a:off x="6457950" y="260032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14304A"/>
                </a:solidFill>
                <a:latin typeface="Arial"/>
                <a:ea typeface="Arial"/>
                <a:cs typeface="Arial"/>
              </a:defRPr>
            </a:pPr>
            <a:r>
              <a:rPr sz="1950" b="1">
                <a:solidFill>
                  <a:srgbClr val="14304A"/>
                </a:solidFill>
                <a:latin typeface="Arial"/>
                <a:ea typeface="Arial"/>
                <a:cs typeface="Arial"/>
              </a:rPr>
              <a:t>STOP</a:t>
            </a:r>
          </a:p>
        </p:txBody>
      </p:sp>
      <p:sp>
        <p:nvSpPr>
          <p:cNvPr id="15" name="">
            <a:extLst xmlns:a="http://schemas.openxmlformats.org/drawingml/2006/main">
              <a:ext uri="{FF2B5EF4-FFF2-40B4-BE49-F238E27FC236}">
                <a16:creationId xmlns:a16="http://schemas.microsoft.com/office/drawing/2014/main" id="{F186736A-E400-46B1-A4C4-6237C9324E41}"/>
              </a:ext>
            </a:extLst>
          </p:cNvPr>
          <p:cNvSpPr>
            <a:spLocks xmlns:a="http://schemas.openxmlformats.org/drawingml/2006/main" noGrp="1"/>
          </p:cNvSpPr>
          <p:nvPr/>
        </p:nvSpPr>
        <p:spPr>
          <a:xfrm xmlns:a="http://schemas.openxmlformats.org/drawingml/2006/main">
            <a:off x="6457950" y="3171825"/>
            <a:ext cx="2190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0">
                <a:solidFill>
                  <a:srgbClr val="172B3A"/>
                </a:solidFill>
                <a:latin typeface="Arial"/>
                <a:ea typeface="Arial"/>
                <a:cs typeface="Arial"/>
              </a:defRPr>
            </a:pPr>
            <a:r>
              <a:rPr sz="1725" b="0">
                <a:solidFill>
                  <a:srgbClr val="172B3A"/>
                </a:solidFill>
                <a:latin typeface="Arial"/>
                <a:ea typeface="Arial"/>
                <a:cs typeface="Arial"/>
              </a:rPr>
              <a:t>Brake for the stop sign, then wait at the line.</a:t>
            </a:r>
          </a:p>
        </p:txBody>
      </p:sp>
      <p:sp>
        <p:nvSpPr>
          <p:cNvPr id="16" name="">
            <a:extLst xmlns:a="http://schemas.openxmlformats.org/drawingml/2006/main">
              <a:ext uri="{FF2B5EF4-FFF2-40B4-BE49-F238E27FC236}">
                <a16:creationId xmlns:a16="http://schemas.microsoft.com/office/drawing/2014/main" id="{4CE8F555-015F-4197-87B1-5D05633F5D79}"/>
              </a:ext>
            </a:extLst>
          </p:cNvPr>
          <p:cNvSpPr>
            <a:spLocks xmlns:a="http://schemas.openxmlformats.org/drawingml/2006/main" noGrp="1"/>
          </p:cNvSpPr>
          <p:nvPr/>
        </p:nvSpPr>
        <p:spPr>
          <a:xfrm xmlns:a="http://schemas.openxmlformats.org/drawingml/2006/main">
            <a:off x="9058275" y="2133600"/>
            <a:ext cx="47625" cy="2381250"/>
          </a:xfrm>
          <a:prstGeom xmlns:a="http://schemas.openxmlformats.org/drawingml/2006/main" prst="rect">
            <a:avLst/>
          </a:prstGeom>
          <a:solidFill xmlns:a="http://schemas.openxmlformats.org/drawingml/2006/main">
            <a:srgbClr val="348A5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BFACE54-813F-4059-B57A-A46AE2BD0CB9}"/>
              </a:ext>
            </a:extLst>
          </p:cNvPr>
          <p:cNvSpPr>
            <a:spLocks xmlns:a="http://schemas.openxmlformats.org/drawingml/2006/main" noGrp="1"/>
          </p:cNvSpPr>
          <p:nvPr/>
        </p:nvSpPr>
        <p:spPr>
          <a:xfrm xmlns:a="http://schemas.openxmlformats.org/drawingml/2006/main">
            <a:off x="9248775" y="21240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348A5A"/>
                </a:solidFill>
                <a:latin typeface="Arial"/>
                <a:ea typeface="Arial"/>
                <a:cs typeface="Arial"/>
              </a:defRPr>
            </a:pPr>
            <a:r>
              <a:rPr sz="1650" b="1">
                <a:solidFill>
                  <a:srgbClr val="348A5A"/>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2123DF75-602D-4974-88C1-56A204F9F54A}"/>
              </a:ext>
            </a:extLst>
          </p:cNvPr>
          <p:cNvSpPr>
            <a:spLocks xmlns:a="http://schemas.openxmlformats.org/drawingml/2006/main" noGrp="1"/>
          </p:cNvSpPr>
          <p:nvPr/>
        </p:nvSpPr>
        <p:spPr>
          <a:xfrm xmlns:a="http://schemas.openxmlformats.org/drawingml/2006/main">
            <a:off x="9248775" y="260032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14304A"/>
                </a:solidFill>
                <a:latin typeface="Arial"/>
                <a:ea typeface="Arial"/>
                <a:cs typeface="Arial"/>
              </a:defRPr>
            </a:pPr>
            <a:r>
              <a:rPr sz="1950" b="1">
                <a:solidFill>
                  <a:srgbClr val="14304A"/>
                </a:solidFill>
                <a:latin typeface="Arial"/>
                <a:ea typeface="Arial"/>
                <a:cs typeface="Arial"/>
              </a:rPr>
              <a:t>TURN RIGHT</a:t>
            </a:r>
          </a:p>
        </p:txBody>
      </p:sp>
      <p:sp>
        <p:nvSpPr>
          <p:cNvPr id="19" name="">
            <a:extLst xmlns:a="http://schemas.openxmlformats.org/drawingml/2006/main">
              <a:ext uri="{FF2B5EF4-FFF2-40B4-BE49-F238E27FC236}">
                <a16:creationId xmlns:a16="http://schemas.microsoft.com/office/drawing/2014/main" id="{4E403A85-5BC5-465C-B5C1-540BD27FBDCB}"/>
              </a:ext>
            </a:extLst>
          </p:cNvPr>
          <p:cNvSpPr>
            <a:spLocks xmlns:a="http://schemas.openxmlformats.org/drawingml/2006/main" noGrp="1"/>
          </p:cNvSpPr>
          <p:nvPr/>
        </p:nvSpPr>
        <p:spPr>
          <a:xfrm xmlns:a="http://schemas.openxmlformats.org/drawingml/2006/main">
            <a:off x="9248775" y="3171825"/>
            <a:ext cx="2190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0">
                <a:solidFill>
                  <a:srgbClr val="172B3A"/>
                </a:solidFill>
                <a:latin typeface="Arial"/>
                <a:ea typeface="Arial"/>
                <a:cs typeface="Arial"/>
              </a:defRPr>
            </a:pPr>
            <a:r>
              <a:rPr sz="1725" b="0">
                <a:solidFill>
                  <a:srgbClr val="172B3A"/>
                </a:solidFill>
                <a:latin typeface="Arial"/>
                <a:ea typeface="Arial"/>
                <a:cs typeface="Arial"/>
              </a:rPr>
              <a:t>Steer right at a lower speed, then return to driving.</a:t>
            </a:r>
          </a:p>
        </p:txBody>
      </p:sp>
      <p:sp>
        <p:nvSpPr>
          <p:cNvPr id="20" name="">
            <a:extLst xmlns:a="http://schemas.openxmlformats.org/drawingml/2006/main">
              <a:ext uri="{FF2B5EF4-FFF2-40B4-BE49-F238E27FC236}">
                <a16:creationId xmlns:a16="http://schemas.microsoft.com/office/drawing/2014/main" id="{427AAC65-6BAA-4DB4-A8DF-81057C3F3566}"/>
              </a:ext>
            </a:extLst>
          </p:cNvPr>
          <p:cNvSpPr>
            <a:spLocks xmlns:a="http://schemas.openxmlformats.org/drawingml/2006/main" noGrp="1"/>
          </p:cNvSpPr>
          <p:nvPr/>
        </p:nvSpPr>
        <p:spPr>
          <a:xfrm xmlns:a="http://schemas.openxmlformats.org/drawingml/2006/main">
            <a:off x="704850" y="531495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0">
                <a:solidFill>
                  <a:srgbClr val="4F6170"/>
                </a:solidFill>
                <a:latin typeface="Arial"/>
                <a:ea typeface="Arial"/>
                <a:cs typeface="Arial"/>
              </a:defRPr>
            </a:pPr>
            <a:r>
              <a:rPr sz="1725" b="0">
                <a:solidFill>
                  <a:srgbClr val="4F6170"/>
                </a:solidFill>
                <a:latin typeface="Arial"/>
                <a:ea typeface="Arial"/>
                <a:cs typeface="Arial"/>
              </a:rPr>
              <a:t>State means the vehicle’s current action. It does not mean an AI model detected the event.</a:t>
            </a:r>
          </a:p>
        </p:txBody>
      </p:sp>
    </p:spTree>
    <p:extLst>
      <p:ext uri="{BB962C8B-B14F-4D97-AF65-F5344CB8AC3E}">
        <p14:creationId xmlns:p14="http://schemas.microsoft.com/office/powerpoint/2010/main" val="1756860100"/>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E85189A-817D-4549-B8B2-E9C3E91407A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B817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54DDBC-72CB-464F-B565-88FF5856E90D}"/>
              </a:ext>
            </a:extLst>
          </p:cNvPr>
          <p:cNvSpPr>
            <a:spLocks xmlns:a="http://schemas.openxmlformats.org/drawingml/2006/main" noGrp="1"/>
          </p:cNvSpPr>
          <p:nvPr/>
        </p:nvSpPr>
        <p:spPr>
          <a:xfrm xmlns:a="http://schemas.openxmlformats.org/drawingml/2006/main">
            <a:off x="609600" y="4000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450" b="1">
                <a:solidFill>
                  <a:srgbClr val="14304A"/>
                </a:solidFill>
                <a:latin typeface="Arial"/>
                <a:ea typeface="Arial"/>
                <a:cs typeface="Arial"/>
              </a:defRPr>
            </a:pPr>
            <a:r>
              <a:rPr sz="3450" b="1">
                <a:solidFill>
                  <a:srgbClr val="14304A"/>
                </a:solidFill>
                <a:latin typeface="Arial"/>
                <a:ea typeface="Arial"/>
                <a:cs typeface="Arial"/>
              </a:rPr>
              <a:t>How the MATLAB model moves the vehicle</a:t>
            </a:r>
          </a:p>
        </p:txBody>
      </p:sp>
      <p:sp>
        <p:nvSpPr>
          <p:cNvPr id="3" name="">
            <a:extLst xmlns:a="http://schemas.openxmlformats.org/drawingml/2006/main">
              <a:ext uri="{FF2B5EF4-FFF2-40B4-BE49-F238E27FC236}">
                <a16:creationId xmlns:a16="http://schemas.microsoft.com/office/drawing/2014/main" id="{B8AECFC6-52EC-4719-AD0C-08F84C993FB7}"/>
              </a:ext>
            </a:extLst>
          </p:cNvPr>
          <p:cNvSpPr>
            <a:spLocks xmlns:a="http://schemas.openxmlformats.org/drawingml/2006/main" noGrp="1"/>
          </p:cNvSpPr>
          <p:nvPr/>
        </p:nvSpPr>
        <p:spPr>
          <a:xfrm xmlns:a="http://schemas.openxmlformats.org/drawingml/2006/main">
            <a:off x="628650" y="1009650"/>
            <a:ext cx="1090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0">
                <a:solidFill>
                  <a:srgbClr val="4F6170"/>
                </a:solidFill>
                <a:latin typeface="Arial"/>
                <a:ea typeface="Arial"/>
                <a:cs typeface="Arial"/>
              </a:defRPr>
            </a:pPr>
            <a:r>
              <a:rPr sz="1800" b="0">
                <a:solidFill>
                  <a:srgbClr val="4F6170"/>
                </a:solidFill>
                <a:latin typeface="Arial"/>
                <a:ea typeface="Arial"/>
                <a:cs typeface="Arial"/>
              </a:rPr>
              <a:t>Decision rules produce simple actuator commands</a:t>
            </a:r>
          </a:p>
        </p:txBody>
      </p:sp>
      <p:sp>
        <p:nvSpPr>
          <p:cNvPr id="4" name="">
            <a:extLst xmlns:a="http://schemas.openxmlformats.org/drawingml/2006/main">
              <a:ext uri="{FF2B5EF4-FFF2-40B4-BE49-F238E27FC236}">
                <a16:creationId xmlns:a16="http://schemas.microsoft.com/office/drawing/2014/main" id="{4653F0E2-4F9F-4B94-B896-A3A57E8F36D8}"/>
              </a:ext>
            </a:extLst>
          </p:cNvPr>
          <p:cNvSpPr>
            <a:spLocks xmlns:a="http://schemas.openxmlformats.org/drawingml/2006/main" noGrp="1"/>
          </p:cNvSpPr>
          <p:nvPr/>
        </p:nvSpPr>
        <p:spPr>
          <a:xfrm xmlns:a="http://schemas.openxmlformats.org/drawingml/2006/main">
            <a:off x="800100" y="200025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0B817C"/>
                </a:solidFill>
                <a:latin typeface="Arial"/>
                <a:ea typeface="Arial"/>
                <a:cs typeface="Arial"/>
              </a:defRPr>
            </a:pPr>
            <a:r>
              <a:rPr sz="1950" b="1">
                <a:solidFill>
                  <a:srgbClr val="0B817C"/>
                </a:solidFill>
                <a:latin typeface="Arial"/>
                <a:ea typeface="Arial"/>
                <a:cs typeface="Arial"/>
              </a:rPr>
              <a:t>DECISION</a:t>
            </a:r>
          </a:p>
        </p:txBody>
      </p:sp>
      <p:sp>
        <p:nvSpPr>
          <p:cNvPr id="5" name="">
            <a:extLst xmlns:a="http://schemas.openxmlformats.org/drawingml/2006/main">
              <a:ext uri="{FF2B5EF4-FFF2-40B4-BE49-F238E27FC236}">
                <a16:creationId xmlns:a16="http://schemas.microsoft.com/office/drawing/2014/main" id="{086C627D-96E0-46E9-890F-A5868884131A}"/>
              </a:ext>
            </a:extLst>
          </p:cNvPr>
          <p:cNvSpPr>
            <a:spLocks xmlns:a="http://schemas.openxmlformats.org/drawingml/2006/main" noGrp="1"/>
          </p:cNvSpPr>
          <p:nvPr/>
        </p:nvSpPr>
        <p:spPr>
          <a:xfrm xmlns:a="http://schemas.openxmlformats.org/drawingml/2006/main">
            <a:off x="800100" y="2533650"/>
            <a:ext cx="295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250" b="1">
                <a:solidFill>
                  <a:srgbClr val="14304A"/>
                </a:solidFill>
                <a:latin typeface="Arial"/>
                <a:ea typeface="Arial"/>
                <a:cs typeface="Arial"/>
              </a:defRPr>
            </a:pPr>
            <a:r>
              <a:rPr sz="2250" b="1">
                <a:solidFill>
                  <a:srgbClr val="14304A"/>
                </a:solidFill>
                <a:latin typeface="Arial"/>
                <a:ea typeface="Arial"/>
                <a:cs typeface="Arial"/>
              </a:rPr>
              <a:t>DRIVE / YIELD / STOP / TURN</a:t>
            </a:r>
          </a:p>
        </p:txBody>
      </p:sp>
      <p:sp>
        <p:nvSpPr>
          <p:cNvPr id="6" name="">
            <a:extLst xmlns:a="http://schemas.openxmlformats.org/drawingml/2006/main">
              <a:ext uri="{FF2B5EF4-FFF2-40B4-BE49-F238E27FC236}">
                <a16:creationId xmlns:a16="http://schemas.microsoft.com/office/drawing/2014/main" id="{D24BE01D-9A70-46BF-8C37-4B808331AF83}"/>
              </a:ext>
            </a:extLst>
          </p:cNvPr>
          <p:cNvSpPr>
            <a:spLocks xmlns:a="http://schemas.openxmlformats.org/drawingml/2006/main" noGrp="1"/>
          </p:cNvSpPr>
          <p:nvPr/>
        </p:nvSpPr>
        <p:spPr>
          <a:xfrm xmlns:a="http://schemas.openxmlformats.org/drawingml/2006/main">
            <a:off x="3905250" y="2524125"/>
            <a:ext cx="66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150" b="1">
                <a:solidFill>
                  <a:srgbClr val="0B817C"/>
                </a:solidFill>
                <a:latin typeface="Arial"/>
                <a:ea typeface="Arial"/>
                <a:cs typeface="Arial"/>
              </a:defRPr>
            </a:pPr>
            <a:r>
              <a:rPr sz="3150" b="1">
                <a:solidFill>
                  <a:srgbClr val="0B817C"/>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FCF3A3DC-EF11-4294-AEAE-D82782EBA73C}"/>
              </a:ext>
            </a:extLst>
          </p:cNvPr>
          <p:cNvSpPr>
            <a:spLocks xmlns:a="http://schemas.openxmlformats.org/drawingml/2006/main" noGrp="1"/>
          </p:cNvSpPr>
          <p:nvPr/>
        </p:nvSpPr>
        <p:spPr>
          <a:xfrm xmlns:a="http://schemas.openxmlformats.org/drawingml/2006/main">
            <a:off x="4762500" y="200025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0B817C"/>
                </a:solidFill>
                <a:latin typeface="Arial"/>
                <a:ea typeface="Arial"/>
                <a:cs typeface="Arial"/>
              </a:defRPr>
            </a:pPr>
            <a:r>
              <a:rPr sz="1950" b="1">
                <a:solidFill>
                  <a:srgbClr val="0B817C"/>
                </a:solidFill>
                <a:latin typeface="Arial"/>
                <a:ea typeface="Arial"/>
                <a:cs typeface="Arial"/>
              </a:rPr>
              <a:t>ACTUATORS</a:t>
            </a:r>
          </a:p>
        </p:txBody>
      </p:sp>
      <p:sp>
        <p:nvSpPr>
          <p:cNvPr id="8" name="">
            <a:extLst xmlns:a="http://schemas.openxmlformats.org/drawingml/2006/main">
              <a:ext uri="{FF2B5EF4-FFF2-40B4-BE49-F238E27FC236}">
                <a16:creationId xmlns:a16="http://schemas.microsoft.com/office/drawing/2014/main" id="{0E343968-8841-4AAB-9F26-7BD2E6B7D8F3}"/>
              </a:ext>
            </a:extLst>
          </p:cNvPr>
          <p:cNvSpPr>
            <a:spLocks xmlns:a="http://schemas.openxmlformats.org/drawingml/2006/main" noGrp="1"/>
          </p:cNvSpPr>
          <p:nvPr/>
        </p:nvSpPr>
        <p:spPr>
          <a:xfrm xmlns:a="http://schemas.openxmlformats.org/drawingml/2006/main">
            <a:off x="4762500" y="2524125"/>
            <a:ext cx="2190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250" b="1">
                <a:solidFill>
                  <a:srgbClr val="14304A"/>
                </a:solidFill>
                <a:latin typeface="Arial"/>
                <a:ea typeface="Arial"/>
                <a:cs typeface="Arial"/>
              </a:defRPr>
            </a:pPr>
            <a:r>
              <a:rPr sz="2250" b="1">
                <a:solidFill>
                  <a:srgbClr val="14304A"/>
                </a:solidFill>
                <a:latin typeface="Arial"/>
                <a:ea typeface="Arial"/>
                <a:cs typeface="Arial"/>
              </a:rPr>
              <a:t>Throttle</a:t>
            </a:r>
          </a:p>
          <a:p xmlns:a="http://schemas.openxmlformats.org/drawingml/2006/main">
            <a:pPr algn="l">
              <a:buNone/>
              <a:defRPr sz="2250" b="1">
                <a:solidFill>
                  <a:srgbClr val="14304A"/>
                </a:solidFill>
                <a:latin typeface="Arial"/>
                <a:ea typeface="Arial"/>
                <a:cs typeface="Arial"/>
              </a:defRPr>
            </a:pPr>
            <a:r>
              <a:rPr sz="2250" b="1">
                <a:solidFill>
                  <a:srgbClr val="14304A"/>
                </a:solidFill>
                <a:latin typeface="Arial"/>
                <a:ea typeface="Arial"/>
                <a:cs typeface="Arial"/>
              </a:rPr>
              <a:t>Brake</a:t>
            </a:r>
          </a:p>
          <a:p xmlns:a="http://schemas.openxmlformats.org/drawingml/2006/main">
            <a:pPr algn="l">
              <a:buNone/>
              <a:defRPr sz="2250" b="1">
                <a:solidFill>
                  <a:srgbClr val="14304A"/>
                </a:solidFill>
                <a:latin typeface="Arial"/>
                <a:ea typeface="Arial"/>
                <a:cs typeface="Arial"/>
              </a:defRPr>
            </a:pPr>
            <a:r>
              <a:rPr sz="2250" b="1">
                <a:solidFill>
                  <a:srgbClr val="14304A"/>
                </a:solidFill>
                <a:latin typeface="Arial"/>
                <a:ea typeface="Arial"/>
                <a:cs typeface="Arial"/>
              </a:rPr>
              <a:t>Steering</a:t>
            </a:r>
          </a:p>
        </p:txBody>
      </p:sp>
      <p:sp>
        <p:nvSpPr>
          <p:cNvPr id="9" name="">
            <a:extLst xmlns:a="http://schemas.openxmlformats.org/drawingml/2006/main">
              <a:ext uri="{FF2B5EF4-FFF2-40B4-BE49-F238E27FC236}">
                <a16:creationId xmlns:a16="http://schemas.microsoft.com/office/drawing/2014/main" id="{CEDF04F3-5576-4158-B5AB-99EE2AE7A32D}"/>
              </a:ext>
            </a:extLst>
          </p:cNvPr>
          <p:cNvSpPr>
            <a:spLocks xmlns:a="http://schemas.openxmlformats.org/drawingml/2006/main" noGrp="1"/>
          </p:cNvSpPr>
          <p:nvPr/>
        </p:nvSpPr>
        <p:spPr>
          <a:xfrm xmlns:a="http://schemas.openxmlformats.org/drawingml/2006/main">
            <a:off x="7191375" y="2524125"/>
            <a:ext cx="66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150" b="1">
                <a:solidFill>
                  <a:srgbClr val="0B817C"/>
                </a:solidFill>
                <a:latin typeface="Arial"/>
                <a:ea typeface="Arial"/>
                <a:cs typeface="Arial"/>
              </a:defRPr>
            </a:pPr>
            <a:r>
              <a:rPr sz="3150" b="1">
                <a:solidFill>
                  <a:srgbClr val="0B817C"/>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6E051509-7223-463B-A5F6-D7E7CA25E027}"/>
              </a:ext>
            </a:extLst>
          </p:cNvPr>
          <p:cNvSpPr>
            <a:spLocks xmlns:a="http://schemas.openxmlformats.org/drawingml/2006/main" noGrp="1"/>
          </p:cNvSpPr>
          <p:nvPr/>
        </p:nvSpPr>
        <p:spPr>
          <a:xfrm xmlns:a="http://schemas.openxmlformats.org/drawingml/2006/main">
            <a:off x="8248650" y="200025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0B817C"/>
                </a:solidFill>
                <a:latin typeface="Arial"/>
                <a:ea typeface="Arial"/>
                <a:cs typeface="Arial"/>
              </a:defRPr>
            </a:pPr>
            <a:r>
              <a:rPr sz="1950" b="1">
                <a:solidFill>
                  <a:srgbClr val="0B817C"/>
                </a:solidFill>
                <a:latin typeface="Arial"/>
                <a:ea typeface="Arial"/>
                <a:cs typeface="Arial"/>
              </a:rPr>
              <a:t>VEHICLE</a:t>
            </a:r>
          </a:p>
        </p:txBody>
      </p:sp>
      <p:sp>
        <p:nvSpPr>
          <p:cNvPr id="11" name="">
            <a:extLst xmlns:a="http://schemas.openxmlformats.org/drawingml/2006/main">
              <a:ext uri="{FF2B5EF4-FFF2-40B4-BE49-F238E27FC236}">
                <a16:creationId xmlns:a16="http://schemas.microsoft.com/office/drawing/2014/main" id="{7B7C486D-3CF1-443B-A552-C47D91B3A9B9}"/>
              </a:ext>
            </a:extLst>
          </p:cNvPr>
          <p:cNvSpPr>
            <a:spLocks xmlns:a="http://schemas.openxmlformats.org/drawingml/2006/main" noGrp="1"/>
          </p:cNvSpPr>
          <p:nvPr/>
        </p:nvSpPr>
        <p:spPr>
          <a:xfrm xmlns:a="http://schemas.openxmlformats.org/drawingml/2006/main">
            <a:off x="8248650" y="2524125"/>
            <a:ext cx="276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250" b="1">
                <a:solidFill>
                  <a:srgbClr val="14304A"/>
                </a:solidFill>
                <a:latin typeface="Arial"/>
                <a:ea typeface="Arial"/>
                <a:cs typeface="Arial"/>
              </a:defRPr>
            </a:pPr>
            <a:r>
              <a:rPr sz="2250" b="1">
                <a:solidFill>
                  <a:srgbClr val="14304A"/>
                </a:solidFill>
                <a:latin typeface="Arial"/>
                <a:ea typeface="Arial"/>
                <a:cs typeface="Arial"/>
              </a:rPr>
              <a:t>Speed, heading,</a:t>
            </a:r>
          </a:p>
          <a:p xmlns:a="http://schemas.openxmlformats.org/drawingml/2006/main">
            <a:pPr algn="l">
              <a:buNone/>
              <a:defRPr sz="2250" b="1">
                <a:solidFill>
                  <a:srgbClr val="14304A"/>
                </a:solidFill>
                <a:latin typeface="Arial"/>
                <a:ea typeface="Arial"/>
                <a:cs typeface="Arial"/>
              </a:defRPr>
            </a:pPr>
            <a:r>
              <a:rPr sz="2250" b="1">
                <a:solidFill>
                  <a:srgbClr val="14304A"/>
                </a:solidFill>
                <a:latin typeface="Arial"/>
                <a:ea typeface="Arial"/>
                <a:cs typeface="Arial"/>
              </a:rPr>
              <a:t>and road position</a:t>
            </a:r>
          </a:p>
        </p:txBody>
      </p:sp>
      <p:sp>
        <p:nvSpPr>
          <p:cNvPr id="12" name="">
            <a:extLst xmlns:a="http://schemas.openxmlformats.org/drawingml/2006/main">
              <a:ext uri="{FF2B5EF4-FFF2-40B4-BE49-F238E27FC236}">
                <a16:creationId xmlns:a16="http://schemas.microsoft.com/office/drawing/2014/main" id="{CAFCFF8C-6891-4E15-88E2-E52845158158}"/>
              </a:ext>
            </a:extLst>
          </p:cNvPr>
          <p:cNvSpPr>
            <a:spLocks xmlns:a="http://schemas.openxmlformats.org/drawingml/2006/main" noGrp="1"/>
          </p:cNvSpPr>
          <p:nvPr/>
        </p:nvSpPr>
        <p:spPr>
          <a:xfrm xmlns:a="http://schemas.openxmlformats.org/drawingml/2006/main">
            <a:off x="800100" y="4429125"/>
            <a:ext cx="10172700" cy="19050"/>
          </a:xfrm>
          <a:prstGeom xmlns:a="http://schemas.openxmlformats.org/drawingml/2006/main" prst="rect">
            <a:avLst/>
          </a:prstGeom>
          <a:solidFill xmlns:a="http://schemas.openxmlformats.org/drawingml/2006/main">
            <a:srgbClr val="D9E0E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8BF2C43-B1E9-4C18-84CF-138FF1167E74}"/>
              </a:ext>
            </a:extLst>
          </p:cNvPr>
          <p:cNvSpPr>
            <a:spLocks xmlns:a="http://schemas.openxmlformats.org/drawingml/2006/main" noGrp="1"/>
          </p:cNvSpPr>
          <p:nvPr/>
        </p:nvSpPr>
        <p:spPr>
          <a:xfrm xmlns:a="http://schemas.openxmlformats.org/drawingml/2006/main">
            <a:off x="800100" y="4724400"/>
            <a:ext cx="1019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0">
                <a:solidFill>
                  <a:srgbClr val="4F6170"/>
                </a:solidFill>
                <a:latin typeface="Arial"/>
                <a:ea typeface="Arial"/>
                <a:cs typeface="Arial"/>
              </a:defRPr>
            </a:pPr>
            <a:r>
              <a:rPr sz="1875" b="0">
                <a:solidFill>
                  <a:srgbClr val="4F6170"/>
                </a:solidFill>
                <a:latin typeface="Arial"/>
                <a:ea typeface="Arial"/>
                <a:cs typeface="Arial"/>
              </a:rPr>
              <a:t>A basic bicycle model estimates the path from speed and steering angle. No real sensors or vehicle hardware are connected.</a:t>
            </a:r>
          </a:p>
        </p:txBody>
      </p:sp>
    </p:spTree>
    <p:extLst>
      <p:ext uri="{BB962C8B-B14F-4D97-AF65-F5344CB8AC3E}">
        <p14:creationId xmlns:p14="http://schemas.microsoft.com/office/powerpoint/2010/main" val="1509301043"/>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24A62C-760D-44FE-BCAA-02576A8528C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B817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EE79E5-B871-4348-BDD4-AE43803454BB}"/>
              </a:ext>
            </a:extLst>
          </p:cNvPr>
          <p:cNvSpPr>
            <a:spLocks xmlns:a="http://schemas.openxmlformats.org/drawingml/2006/main" noGrp="1"/>
          </p:cNvSpPr>
          <p:nvPr/>
        </p:nvSpPr>
        <p:spPr>
          <a:xfrm xmlns:a="http://schemas.openxmlformats.org/drawingml/2006/main">
            <a:off x="609600" y="4000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450" b="1">
                <a:solidFill>
                  <a:srgbClr val="14304A"/>
                </a:solidFill>
                <a:latin typeface="Arial"/>
                <a:ea typeface="Arial"/>
                <a:cs typeface="Arial"/>
              </a:defRPr>
            </a:pPr>
            <a:r>
              <a:rPr sz="3450" b="1">
                <a:solidFill>
                  <a:srgbClr val="14304A"/>
                </a:solidFill>
                <a:latin typeface="Arial"/>
                <a:ea typeface="Arial"/>
                <a:cs typeface="Arial"/>
              </a:rPr>
              <a:t>What MATLAB showed</a:t>
            </a:r>
          </a:p>
        </p:txBody>
      </p:sp>
      <p:sp>
        <p:nvSpPr>
          <p:cNvPr id="3" name="">
            <a:extLst xmlns:a="http://schemas.openxmlformats.org/drawingml/2006/main">
              <a:ext uri="{FF2B5EF4-FFF2-40B4-BE49-F238E27FC236}">
                <a16:creationId xmlns:a16="http://schemas.microsoft.com/office/drawing/2014/main" id="{9BEFEAB6-DE20-4677-8B0D-B97E2E2E1F73}"/>
              </a:ext>
            </a:extLst>
          </p:cNvPr>
          <p:cNvSpPr>
            <a:spLocks xmlns:a="http://schemas.openxmlformats.org/drawingml/2006/main" noGrp="1"/>
          </p:cNvSpPr>
          <p:nvPr/>
        </p:nvSpPr>
        <p:spPr>
          <a:xfrm xmlns:a="http://schemas.openxmlformats.org/drawingml/2006/main">
            <a:off x="628650" y="1009650"/>
            <a:ext cx="1090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0">
                <a:solidFill>
                  <a:srgbClr val="4F6170"/>
                </a:solidFill>
                <a:latin typeface="Arial"/>
                <a:ea typeface="Arial"/>
                <a:cs typeface="Arial"/>
              </a:defRPr>
            </a:pPr>
            <a:r>
              <a:rPr sz="1800" b="0">
                <a:solidFill>
                  <a:srgbClr val="4F6170"/>
                </a:solidFill>
                <a:latin typeface="Arial"/>
                <a:ea typeface="Arial"/>
                <a:cs typeface="Arial"/>
              </a:rPr>
              <a:t>The screenshots are from the run you shared</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6f9611c36d04dfb"/>
          <a:stretch xmlns:a="http://schemas.openxmlformats.org/drawingml/2006/main"/>
        </p:blipFill>
        <p:spPr>
          <a:xfrm xmlns:a="http://schemas.openxmlformats.org/drawingml/2006/main">
            <a:off x="537848" y="1752600"/>
            <a:ext cx="7420604" cy="474345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3be91156d18464a"/>
          <a:stretch xmlns:a="http://schemas.openxmlformats.org/drawingml/2006/main"/>
        </p:blipFill>
        <p:spPr>
          <a:xfrm xmlns:a="http://schemas.openxmlformats.org/drawingml/2006/main">
            <a:off x="8301939" y="2705100"/>
            <a:ext cx="3322423" cy="857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90792E-53C2-4658-B7A1-DDEC7DEB3523}"/>
              </a:ext>
            </a:extLst>
          </p:cNvPr>
          <p:cNvSpPr>
            <a:spLocks xmlns:a="http://schemas.openxmlformats.org/drawingml/2006/main" noGrp="1"/>
          </p:cNvSpPr>
          <p:nvPr/>
        </p:nvSpPr>
        <p:spPr>
          <a:xfrm xmlns:a="http://schemas.openxmlformats.org/drawingml/2006/main">
            <a:off x="8248650" y="2133600"/>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B817C"/>
                </a:solidFill>
                <a:latin typeface="Arial"/>
                <a:ea typeface="Arial"/>
                <a:cs typeface="Arial"/>
              </a:defRPr>
            </a:pPr>
            <a:r>
              <a:rPr sz="1725" b="1">
                <a:solidFill>
                  <a:srgbClr val="0B817C"/>
                </a:solidFill>
                <a:latin typeface="Arial"/>
                <a:ea typeface="Arial"/>
                <a:cs typeface="Arial"/>
              </a:rPr>
              <a:t>RUN SUMMARY</a:t>
            </a:r>
          </a:p>
        </p:txBody>
      </p:sp>
      <p:sp>
        <p:nvSpPr>
          <p:cNvPr id="7" name="">
            <a:extLst xmlns:a="http://schemas.openxmlformats.org/drawingml/2006/main">
              <a:ext uri="{FF2B5EF4-FFF2-40B4-BE49-F238E27FC236}">
                <a16:creationId xmlns:a16="http://schemas.microsoft.com/office/drawing/2014/main" id="{12008C66-220D-4729-AD8E-EBEED4B6761F}"/>
              </a:ext>
            </a:extLst>
          </p:cNvPr>
          <p:cNvSpPr>
            <a:spLocks xmlns:a="http://schemas.openxmlformats.org/drawingml/2006/main" noGrp="1"/>
          </p:cNvSpPr>
          <p:nvPr/>
        </p:nvSpPr>
        <p:spPr>
          <a:xfrm xmlns:a="http://schemas.openxmlformats.org/drawingml/2006/main">
            <a:off x="8248650" y="3924300"/>
            <a:ext cx="32385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0">
                <a:solidFill>
                  <a:srgbClr val="172B3A"/>
                </a:solidFill>
                <a:latin typeface="Arial"/>
                <a:ea typeface="Arial"/>
                <a:cs typeface="Arial"/>
              </a:defRPr>
            </a:pPr>
            <a:r>
              <a:rPr sz="1725" b="0">
                <a:solidFill>
                  <a:srgbClr val="172B3A"/>
                </a:solidFill>
                <a:latin typeface="Arial"/>
                <a:ea typeface="Arial"/>
                <a:cs typeface="Arial"/>
              </a:rPr>
              <a:t>The colored timeline reads from left to right. The 4.8 seconds is time in the STOP state, including braking. The programmed full-stop wait is 2.5 seconds.</a:t>
            </a:r>
          </a:p>
        </p:txBody>
      </p:sp>
    </p:spTree>
    <p:extLst>
      <p:ext uri="{BB962C8B-B14F-4D97-AF65-F5344CB8AC3E}">
        <p14:creationId xmlns:p14="http://schemas.microsoft.com/office/powerpoint/2010/main" val="1784344501"/>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D2F6FD8-D22D-462D-8AA8-0DB3ECDF4AB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B817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3E8B9C-2E6F-4E37-BE04-21D9C80957F7}"/>
              </a:ext>
            </a:extLst>
          </p:cNvPr>
          <p:cNvSpPr>
            <a:spLocks xmlns:a="http://schemas.openxmlformats.org/drawingml/2006/main" noGrp="1"/>
          </p:cNvSpPr>
          <p:nvPr/>
        </p:nvSpPr>
        <p:spPr>
          <a:xfrm xmlns:a="http://schemas.openxmlformats.org/drawingml/2006/main">
            <a:off x="609600" y="4000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450" b="1">
                <a:solidFill>
                  <a:srgbClr val="14304A"/>
                </a:solidFill>
                <a:latin typeface="Arial"/>
                <a:ea typeface="Arial"/>
                <a:cs typeface="Arial"/>
              </a:defRPr>
            </a:pPr>
            <a:r>
              <a:rPr sz="3450" b="1">
                <a:solidFill>
                  <a:srgbClr val="14304A"/>
                </a:solidFill>
                <a:latin typeface="Arial"/>
                <a:ea typeface="Arial"/>
                <a:cs typeface="Arial"/>
              </a:rPr>
              <a:t>How to read the result</a:t>
            </a:r>
          </a:p>
        </p:txBody>
      </p:sp>
      <p:sp>
        <p:nvSpPr>
          <p:cNvPr id="3" name="">
            <a:extLst xmlns:a="http://schemas.openxmlformats.org/drawingml/2006/main">
              <a:ext uri="{FF2B5EF4-FFF2-40B4-BE49-F238E27FC236}">
                <a16:creationId xmlns:a16="http://schemas.microsoft.com/office/drawing/2014/main" id="{4E62FE1B-CD8E-40DA-B702-3577E12558F5}"/>
              </a:ext>
            </a:extLst>
          </p:cNvPr>
          <p:cNvSpPr>
            <a:spLocks xmlns:a="http://schemas.openxmlformats.org/drawingml/2006/main" noGrp="1"/>
          </p:cNvSpPr>
          <p:nvPr/>
        </p:nvSpPr>
        <p:spPr>
          <a:xfrm xmlns:a="http://schemas.openxmlformats.org/drawingml/2006/main">
            <a:off x="628650" y="1009650"/>
            <a:ext cx="1090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0">
                <a:solidFill>
                  <a:srgbClr val="4F6170"/>
                </a:solidFill>
                <a:latin typeface="Arial"/>
                <a:ea typeface="Arial"/>
                <a:cs typeface="Arial"/>
              </a:defRPr>
            </a:pPr>
            <a:r>
              <a:rPr sz="1800" b="0">
                <a:solidFill>
                  <a:srgbClr val="4F6170"/>
                </a:solidFill>
                <a:latin typeface="Arial"/>
                <a:ea typeface="Arial"/>
                <a:cs typeface="Arial"/>
              </a:rPr>
              <a:t>The run demonstrates the decision sequence, not real-world driving performance</a:t>
            </a:r>
          </a:p>
        </p:txBody>
      </p:sp>
      <p:sp>
        <p:nvSpPr>
          <p:cNvPr id="4" name="">
            <a:extLst xmlns:a="http://schemas.openxmlformats.org/drawingml/2006/main">
              <a:ext uri="{FF2B5EF4-FFF2-40B4-BE49-F238E27FC236}">
                <a16:creationId xmlns:a16="http://schemas.microsoft.com/office/drawing/2014/main" id="{71563093-E1BE-425C-8480-9BC6E73B0AB2}"/>
              </a:ext>
            </a:extLst>
          </p:cNvPr>
          <p:cNvSpPr>
            <a:spLocks xmlns:a="http://schemas.openxmlformats.org/drawingml/2006/main" noGrp="1"/>
          </p:cNvSpPr>
          <p:nvPr/>
        </p:nvSpPr>
        <p:spPr>
          <a:xfrm xmlns:a="http://schemas.openxmlformats.org/drawingml/2006/main">
            <a:off x="781050" y="2009775"/>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225" b="1">
                <a:solidFill>
                  <a:srgbClr val="14304A"/>
                </a:solidFill>
                <a:latin typeface="Arial"/>
                <a:ea typeface="Arial"/>
                <a:cs typeface="Arial"/>
              </a:defRPr>
            </a:pPr>
            <a:r>
              <a:rPr sz="3225" b="1">
                <a:solidFill>
                  <a:srgbClr val="14304A"/>
                </a:solidFill>
                <a:latin typeface="Arial"/>
                <a:ea typeface="Arial"/>
                <a:cs typeface="Arial"/>
              </a:rPr>
              <a:t>28.8 km/h</a:t>
            </a:r>
          </a:p>
        </p:txBody>
      </p:sp>
      <p:sp>
        <p:nvSpPr>
          <p:cNvPr id="5" name="">
            <a:extLst xmlns:a="http://schemas.openxmlformats.org/drawingml/2006/main">
              <a:ext uri="{FF2B5EF4-FFF2-40B4-BE49-F238E27FC236}">
                <a16:creationId xmlns:a16="http://schemas.microsoft.com/office/drawing/2014/main" id="{DA197482-15FA-4D25-8BE7-54B8D6A69039}"/>
              </a:ext>
            </a:extLst>
          </p:cNvPr>
          <p:cNvSpPr>
            <a:spLocks xmlns:a="http://schemas.openxmlformats.org/drawingml/2006/main" noGrp="1"/>
          </p:cNvSpPr>
          <p:nvPr/>
        </p:nvSpPr>
        <p:spPr>
          <a:xfrm xmlns:a="http://schemas.openxmlformats.org/drawingml/2006/main">
            <a:off x="800100" y="26384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0">
                <a:solidFill>
                  <a:srgbClr val="4F6170"/>
                </a:solidFill>
                <a:latin typeface="Arial"/>
                <a:ea typeface="Arial"/>
                <a:cs typeface="Arial"/>
              </a:defRPr>
            </a:pPr>
            <a:r>
              <a:rPr sz="1650" b="0">
                <a:solidFill>
                  <a:srgbClr val="4F6170"/>
                </a:solidFill>
                <a:latin typeface="Arial"/>
                <a:ea typeface="Arial"/>
                <a:cs typeface="Arial"/>
              </a:rPr>
              <a:t>maximum speed in this run</a:t>
            </a:r>
          </a:p>
        </p:txBody>
      </p:sp>
      <p:sp>
        <p:nvSpPr>
          <p:cNvPr id="6" name="">
            <a:extLst xmlns:a="http://schemas.openxmlformats.org/drawingml/2006/main">
              <a:ext uri="{FF2B5EF4-FFF2-40B4-BE49-F238E27FC236}">
                <a16:creationId xmlns:a16="http://schemas.microsoft.com/office/drawing/2014/main" id="{83C0FCAA-6C1A-43B3-8E87-8867A45B1246}"/>
              </a:ext>
            </a:extLst>
          </p:cNvPr>
          <p:cNvSpPr>
            <a:spLocks xmlns:a="http://schemas.openxmlformats.org/drawingml/2006/main" noGrp="1"/>
          </p:cNvSpPr>
          <p:nvPr/>
        </p:nvSpPr>
        <p:spPr>
          <a:xfrm xmlns:a="http://schemas.openxmlformats.org/drawingml/2006/main">
            <a:off x="4495800" y="200977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225" b="1">
                <a:solidFill>
                  <a:srgbClr val="D68A21"/>
                </a:solidFill>
                <a:latin typeface="Arial"/>
                <a:ea typeface="Arial"/>
                <a:cs typeface="Arial"/>
              </a:defRPr>
            </a:pPr>
            <a:r>
              <a:rPr sz="3225" b="1">
                <a:solidFill>
                  <a:srgbClr val="D68A21"/>
                </a:solidFill>
                <a:latin typeface="Arial"/>
                <a:ea typeface="Arial"/>
                <a:cs typeface="Arial"/>
              </a:rPr>
              <a:t>2.4 s</a:t>
            </a:r>
          </a:p>
        </p:txBody>
      </p:sp>
      <p:sp>
        <p:nvSpPr>
          <p:cNvPr id="7" name="">
            <a:extLst xmlns:a="http://schemas.openxmlformats.org/drawingml/2006/main">
              <a:ext uri="{FF2B5EF4-FFF2-40B4-BE49-F238E27FC236}">
                <a16:creationId xmlns:a16="http://schemas.microsoft.com/office/drawing/2014/main" id="{E444E9E3-CE66-4B1D-A38D-75FF2CE6E6E7}"/>
              </a:ext>
            </a:extLst>
          </p:cNvPr>
          <p:cNvSpPr>
            <a:spLocks xmlns:a="http://schemas.openxmlformats.org/drawingml/2006/main" noGrp="1"/>
          </p:cNvSpPr>
          <p:nvPr/>
        </p:nvSpPr>
        <p:spPr>
          <a:xfrm xmlns:a="http://schemas.openxmlformats.org/drawingml/2006/main">
            <a:off x="4514850" y="26384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0">
                <a:solidFill>
                  <a:srgbClr val="4F6170"/>
                </a:solidFill>
                <a:latin typeface="Arial"/>
                <a:ea typeface="Arial"/>
                <a:cs typeface="Arial"/>
              </a:defRPr>
            </a:pPr>
            <a:r>
              <a:rPr sz="1650" b="0">
                <a:solidFill>
                  <a:srgbClr val="4F6170"/>
                </a:solidFill>
                <a:latin typeface="Arial"/>
                <a:ea typeface="Arial"/>
                <a:cs typeface="Arial"/>
              </a:rPr>
              <a:t>in YIELD state</a:t>
            </a:r>
          </a:p>
        </p:txBody>
      </p:sp>
      <p:sp>
        <p:nvSpPr>
          <p:cNvPr id="8" name="">
            <a:extLst xmlns:a="http://schemas.openxmlformats.org/drawingml/2006/main">
              <a:ext uri="{FF2B5EF4-FFF2-40B4-BE49-F238E27FC236}">
                <a16:creationId xmlns:a16="http://schemas.microsoft.com/office/drawing/2014/main" id="{6DA9E78B-AE9B-4214-AC9C-A94DC93AB3B9}"/>
              </a:ext>
            </a:extLst>
          </p:cNvPr>
          <p:cNvSpPr>
            <a:spLocks xmlns:a="http://schemas.openxmlformats.org/drawingml/2006/main" noGrp="1"/>
          </p:cNvSpPr>
          <p:nvPr/>
        </p:nvSpPr>
        <p:spPr>
          <a:xfrm xmlns:a="http://schemas.openxmlformats.org/drawingml/2006/main">
            <a:off x="7677150" y="200977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225" b="1">
                <a:solidFill>
                  <a:srgbClr val="BD4C45"/>
                </a:solidFill>
                <a:latin typeface="Arial"/>
                <a:ea typeface="Arial"/>
                <a:cs typeface="Arial"/>
              </a:defRPr>
            </a:pPr>
            <a:r>
              <a:rPr sz="3225" b="1">
                <a:solidFill>
                  <a:srgbClr val="BD4C45"/>
                </a:solidFill>
                <a:latin typeface="Arial"/>
                <a:ea typeface="Arial"/>
                <a:cs typeface="Arial"/>
              </a:rPr>
              <a:t>4.8 s</a:t>
            </a:r>
          </a:p>
        </p:txBody>
      </p:sp>
      <p:sp>
        <p:nvSpPr>
          <p:cNvPr id="9" name="">
            <a:extLst xmlns:a="http://schemas.openxmlformats.org/drawingml/2006/main">
              <a:ext uri="{FF2B5EF4-FFF2-40B4-BE49-F238E27FC236}">
                <a16:creationId xmlns:a16="http://schemas.microsoft.com/office/drawing/2014/main" id="{D12E78A8-90E4-491E-A4E3-055DA862416E}"/>
              </a:ext>
            </a:extLst>
          </p:cNvPr>
          <p:cNvSpPr>
            <a:spLocks xmlns:a="http://schemas.openxmlformats.org/drawingml/2006/main" noGrp="1"/>
          </p:cNvSpPr>
          <p:nvPr/>
        </p:nvSpPr>
        <p:spPr>
          <a:xfrm xmlns:a="http://schemas.openxmlformats.org/drawingml/2006/main">
            <a:off x="7696200" y="2638425"/>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0">
                <a:solidFill>
                  <a:srgbClr val="4F6170"/>
                </a:solidFill>
                <a:latin typeface="Arial"/>
                <a:ea typeface="Arial"/>
                <a:cs typeface="Arial"/>
              </a:defRPr>
            </a:pPr>
            <a:r>
              <a:rPr sz="1650" b="0">
                <a:solidFill>
                  <a:srgbClr val="4F6170"/>
                </a:solidFill>
                <a:latin typeface="Arial"/>
                <a:ea typeface="Arial"/>
                <a:cs typeface="Arial"/>
              </a:rPr>
              <a:t>in STOP state, including braking</a:t>
            </a:r>
          </a:p>
        </p:txBody>
      </p:sp>
      <p:sp>
        <p:nvSpPr>
          <p:cNvPr id="10" name="">
            <a:extLst xmlns:a="http://schemas.openxmlformats.org/drawingml/2006/main">
              <a:ext uri="{FF2B5EF4-FFF2-40B4-BE49-F238E27FC236}">
                <a16:creationId xmlns:a16="http://schemas.microsoft.com/office/drawing/2014/main" id="{F5732A9D-BB7D-4288-A39A-BA55E900FADD}"/>
              </a:ext>
            </a:extLst>
          </p:cNvPr>
          <p:cNvSpPr>
            <a:spLocks xmlns:a="http://schemas.openxmlformats.org/drawingml/2006/main" noGrp="1"/>
          </p:cNvSpPr>
          <p:nvPr/>
        </p:nvSpPr>
        <p:spPr>
          <a:xfrm xmlns:a="http://schemas.openxmlformats.org/drawingml/2006/main">
            <a:off x="781050" y="3381375"/>
            <a:ext cx="10287000" cy="19050"/>
          </a:xfrm>
          <a:prstGeom xmlns:a="http://schemas.openxmlformats.org/drawingml/2006/main" prst="rect">
            <a:avLst/>
          </a:prstGeom>
          <a:solidFill xmlns:a="http://schemas.openxmlformats.org/drawingml/2006/main">
            <a:srgbClr val="D9E0E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D565FEB-2A85-422B-9134-198193C8F1C6}"/>
              </a:ext>
            </a:extLst>
          </p:cNvPr>
          <p:cNvSpPr>
            <a:spLocks xmlns:a="http://schemas.openxmlformats.org/drawingml/2006/main" noGrp="1"/>
          </p:cNvSpPr>
          <p:nvPr/>
        </p:nvSpPr>
        <p:spPr>
          <a:xfrm xmlns:a="http://schemas.openxmlformats.org/drawingml/2006/main">
            <a:off x="781050" y="367665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0B817C"/>
                </a:solidFill>
                <a:latin typeface="Arial"/>
                <a:ea typeface="Arial"/>
                <a:cs typeface="Arial"/>
              </a:defRPr>
            </a:pPr>
            <a:r>
              <a:rPr sz="1875" b="1">
                <a:solidFill>
                  <a:srgbClr val="0B817C"/>
                </a:solidFill>
                <a:latin typeface="Arial"/>
                <a:ea typeface="Arial"/>
                <a:cs typeface="Arial"/>
              </a:rPr>
              <a:t>What the run supports</a:t>
            </a:r>
          </a:p>
        </p:txBody>
      </p:sp>
      <p:sp>
        <p:nvSpPr>
          <p:cNvPr id="12" name="">
            <a:extLst xmlns:a="http://schemas.openxmlformats.org/drawingml/2006/main">
              <a:ext uri="{FF2B5EF4-FFF2-40B4-BE49-F238E27FC236}">
                <a16:creationId xmlns:a16="http://schemas.microsoft.com/office/drawing/2014/main" id="{186B77ED-E7DA-4903-B473-438B25EAAC6E}"/>
              </a:ext>
            </a:extLst>
          </p:cNvPr>
          <p:cNvSpPr>
            <a:spLocks xmlns:a="http://schemas.openxmlformats.org/drawingml/2006/main" noGrp="1"/>
          </p:cNvSpPr>
          <p:nvPr/>
        </p:nvSpPr>
        <p:spPr>
          <a:xfrm xmlns:a="http://schemas.openxmlformats.org/drawingml/2006/main">
            <a:off x="781050" y="41148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506"/>
          </a:bodyPr>
          <a:lstStyle xmlns:a="http://schemas.openxmlformats.org/drawingml/2006/main"/>
          <a:p xmlns:a="http://schemas.openxmlformats.org/drawingml/2006/main">
            <a:pPr algn="l">
              <a:buNone/>
              <a:defRPr sz="2025" b="0">
                <a:solidFill>
                  <a:srgbClr val="172B3A"/>
                </a:solidFill>
                <a:latin typeface="Arial"/>
                <a:ea typeface="Arial"/>
                <a:cs typeface="Arial"/>
              </a:defRPr>
            </a:pPr>
            <a:r>
              <a:rPr sz="2025" b="0">
                <a:solidFill>
                  <a:srgbClr val="172B3A"/>
                </a:solidFill>
                <a:latin typeface="Arial"/>
                <a:ea typeface="Arial"/>
                <a:cs typeface="Arial"/>
              </a:rPr>
              <a:t>The controller changes actions when scenario conditions change and produces matching throttle, brake, and steering responses.</a:t>
            </a:r>
          </a:p>
        </p:txBody>
      </p:sp>
      <p:sp>
        <p:nvSpPr>
          <p:cNvPr id="13" name="">
            <a:extLst xmlns:a="http://schemas.openxmlformats.org/drawingml/2006/main">
              <a:ext uri="{FF2B5EF4-FFF2-40B4-BE49-F238E27FC236}">
                <a16:creationId xmlns:a16="http://schemas.microsoft.com/office/drawing/2014/main" id="{8C84FB9E-2DCC-452C-8ABD-1CD79AA121E3}"/>
              </a:ext>
            </a:extLst>
          </p:cNvPr>
          <p:cNvSpPr>
            <a:spLocks xmlns:a="http://schemas.openxmlformats.org/drawingml/2006/main" noGrp="1"/>
          </p:cNvSpPr>
          <p:nvPr/>
        </p:nvSpPr>
        <p:spPr>
          <a:xfrm xmlns:a="http://schemas.openxmlformats.org/drawingml/2006/main">
            <a:off x="781050" y="501015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BD4C45"/>
                </a:solidFill>
                <a:latin typeface="Arial"/>
                <a:ea typeface="Arial"/>
                <a:cs typeface="Arial"/>
              </a:defRPr>
            </a:pPr>
            <a:r>
              <a:rPr sz="1875" b="1">
                <a:solidFill>
                  <a:srgbClr val="BD4C45"/>
                </a:solidFill>
                <a:latin typeface="Arial"/>
                <a:ea typeface="Arial"/>
                <a:cs typeface="Arial"/>
              </a:rPr>
              <a:t>Limit</a:t>
            </a:r>
          </a:p>
        </p:txBody>
      </p:sp>
      <p:sp>
        <p:nvSpPr>
          <p:cNvPr id="14" name="">
            <a:extLst xmlns:a="http://schemas.openxmlformats.org/drawingml/2006/main">
              <a:ext uri="{FF2B5EF4-FFF2-40B4-BE49-F238E27FC236}">
                <a16:creationId xmlns:a16="http://schemas.microsoft.com/office/drawing/2014/main" id="{68C6F0A2-FC79-4445-9EA9-CE0B5DF6E737}"/>
              </a:ext>
            </a:extLst>
          </p:cNvPr>
          <p:cNvSpPr>
            <a:spLocks xmlns:a="http://schemas.openxmlformats.org/drawingml/2006/main" noGrp="1"/>
          </p:cNvSpPr>
          <p:nvPr/>
        </p:nvSpPr>
        <p:spPr>
          <a:xfrm xmlns:a="http://schemas.openxmlformats.org/drawingml/2006/main">
            <a:off x="2057400" y="5010150"/>
            <a:ext cx="9029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0">
                <a:solidFill>
                  <a:srgbClr val="172B3A"/>
                </a:solidFill>
                <a:latin typeface="Arial"/>
                <a:ea typeface="Arial"/>
                <a:cs typeface="Arial"/>
              </a:defRPr>
            </a:pPr>
            <a:r>
              <a:rPr sz="1800" b="0">
                <a:solidFill>
                  <a:srgbClr val="172B3A"/>
                </a:solidFill>
                <a:latin typeface="Arial"/>
                <a:ea typeface="Arial"/>
                <a:cs typeface="Arial"/>
              </a:rPr>
              <a:t>The scenario uses preset events and simplified physics. It does not validate safety or performance on real roads.</a:t>
            </a:r>
          </a:p>
        </p:txBody>
      </p:sp>
    </p:spTree>
    <p:extLst>
      <p:ext uri="{BB962C8B-B14F-4D97-AF65-F5344CB8AC3E}">
        <p14:creationId xmlns:p14="http://schemas.microsoft.com/office/powerpoint/2010/main" val="38650723"/>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6048A90-7740-418E-8837-1C8F2975BFE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B817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227973-1F60-468B-91E7-DDEAA0231236}"/>
              </a:ext>
            </a:extLst>
          </p:cNvPr>
          <p:cNvSpPr>
            <a:spLocks xmlns:a="http://schemas.openxmlformats.org/drawingml/2006/main" noGrp="1"/>
          </p:cNvSpPr>
          <p:nvPr/>
        </p:nvSpPr>
        <p:spPr>
          <a:xfrm xmlns:a="http://schemas.openxmlformats.org/drawingml/2006/main">
            <a:off x="609600" y="4000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450" b="1">
                <a:solidFill>
                  <a:srgbClr val="14304A"/>
                </a:solidFill>
                <a:latin typeface="Arial"/>
                <a:ea typeface="Arial"/>
                <a:cs typeface="Arial"/>
              </a:defRPr>
            </a:pPr>
            <a:r>
              <a:rPr sz="3450" b="1">
                <a:solidFill>
                  <a:srgbClr val="14304A"/>
                </a:solidFill>
                <a:latin typeface="Arial"/>
                <a:ea typeface="Arial"/>
                <a:cs typeface="Arial"/>
              </a:rPr>
              <a:t>Conclusion</a:t>
            </a:r>
          </a:p>
        </p:txBody>
      </p:sp>
      <p:sp>
        <p:nvSpPr>
          <p:cNvPr id="3" name="">
            <a:extLst xmlns:a="http://schemas.openxmlformats.org/drawingml/2006/main">
              <a:ext uri="{FF2B5EF4-FFF2-40B4-BE49-F238E27FC236}">
                <a16:creationId xmlns:a16="http://schemas.microsoft.com/office/drawing/2014/main" id="{5B5536BF-50BF-4676-9669-4ABAA20FCD5D}"/>
              </a:ext>
            </a:extLst>
          </p:cNvPr>
          <p:cNvSpPr>
            <a:spLocks xmlns:a="http://schemas.openxmlformats.org/drawingml/2006/main" noGrp="1"/>
          </p:cNvSpPr>
          <p:nvPr/>
        </p:nvSpPr>
        <p:spPr>
          <a:xfrm xmlns:a="http://schemas.openxmlformats.org/drawingml/2006/main">
            <a:off x="628650" y="1009650"/>
            <a:ext cx="1090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0">
                <a:solidFill>
                  <a:srgbClr val="4F6170"/>
                </a:solidFill>
                <a:latin typeface="Arial"/>
                <a:ea typeface="Arial"/>
                <a:cs typeface="Arial"/>
              </a:defRPr>
            </a:pPr>
            <a:r>
              <a:rPr sz="1800" b="0">
                <a:solidFill>
                  <a:srgbClr val="4F6170"/>
                </a:solidFill>
                <a:latin typeface="Arial"/>
                <a:ea typeface="Arial"/>
                <a:cs typeface="Arial"/>
              </a:rPr>
              <a:t>A small project with a clear story for a classroom demonstration</a:t>
            </a:r>
          </a:p>
        </p:txBody>
      </p:sp>
      <p:sp>
        <p:nvSpPr>
          <p:cNvPr id="4" name="">
            <a:extLst xmlns:a="http://schemas.openxmlformats.org/drawingml/2006/main">
              <a:ext uri="{FF2B5EF4-FFF2-40B4-BE49-F238E27FC236}">
                <a16:creationId xmlns:a16="http://schemas.microsoft.com/office/drawing/2014/main" id="{6AD6F8C3-1A17-4C6E-B45E-2E7ED756AB1C}"/>
              </a:ext>
            </a:extLst>
          </p:cNvPr>
          <p:cNvSpPr>
            <a:spLocks xmlns:a="http://schemas.openxmlformats.org/drawingml/2006/main" noGrp="1"/>
          </p:cNvSpPr>
          <p:nvPr/>
        </p:nvSpPr>
        <p:spPr>
          <a:xfrm xmlns:a="http://schemas.openxmlformats.org/drawingml/2006/main">
            <a:off x="781050" y="1962150"/>
            <a:ext cx="10210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84"/>
          </a:bodyPr>
          <a:lstStyle xmlns:a="http://schemas.openxmlformats.org/drawingml/2006/main"/>
          <a:p xmlns:a="http://schemas.openxmlformats.org/drawingml/2006/main">
            <a:pPr algn="l">
              <a:buNone/>
              <a:defRPr sz="2550" b="1">
                <a:solidFill>
                  <a:srgbClr val="14304A"/>
                </a:solidFill>
                <a:latin typeface="Arial"/>
                <a:ea typeface="Arial"/>
                <a:cs typeface="Arial"/>
              </a:defRPr>
            </a:pPr>
            <a:r>
              <a:rPr sz="2550" b="1">
                <a:solidFill>
                  <a:srgbClr val="14304A"/>
                </a:solidFill>
                <a:latin typeface="Arial"/>
                <a:ea typeface="Arial"/>
                <a:cs typeface="Arial"/>
              </a:rPr>
              <a:t>The MATLAB model demonstrates how a finite-state decision module can turn a simple road scenario into understandable vehicle actions.</a:t>
            </a:r>
          </a:p>
        </p:txBody>
      </p:sp>
      <p:sp>
        <p:nvSpPr>
          <p:cNvPr id="5" name="">
            <a:extLst xmlns:a="http://schemas.openxmlformats.org/drawingml/2006/main">
              <a:ext uri="{FF2B5EF4-FFF2-40B4-BE49-F238E27FC236}">
                <a16:creationId xmlns:a16="http://schemas.microsoft.com/office/drawing/2014/main" id="{7A9DD55B-4ACA-4BA4-8AEF-9ACF6E1CAD67}"/>
              </a:ext>
            </a:extLst>
          </p:cNvPr>
          <p:cNvSpPr>
            <a:spLocks xmlns:a="http://schemas.openxmlformats.org/drawingml/2006/main" noGrp="1"/>
          </p:cNvSpPr>
          <p:nvPr/>
        </p:nvSpPr>
        <p:spPr>
          <a:xfrm xmlns:a="http://schemas.openxmlformats.org/drawingml/2006/main">
            <a:off x="800100" y="36766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0B817C"/>
                </a:solidFill>
                <a:latin typeface="Arial"/>
                <a:ea typeface="Arial"/>
                <a:cs typeface="Arial"/>
              </a:defRPr>
            </a:pPr>
            <a:r>
              <a:rPr sz="1800" b="1">
                <a:solidFill>
                  <a:srgbClr val="0B817C"/>
                </a:solidFill>
                <a:latin typeface="Arial"/>
                <a:ea typeface="Arial"/>
                <a:cs typeface="Arial"/>
              </a:rPr>
              <a:t>NEXT STEPS</a:t>
            </a:r>
          </a:p>
        </p:txBody>
      </p:sp>
      <p:sp>
        <p:nvSpPr>
          <p:cNvPr id="6" name="">
            <a:extLst xmlns:a="http://schemas.openxmlformats.org/drawingml/2006/main">
              <a:ext uri="{FF2B5EF4-FFF2-40B4-BE49-F238E27FC236}">
                <a16:creationId xmlns:a16="http://schemas.microsoft.com/office/drawing/2014/main" id="{0EE6115E-4F9A-4380-8B42-DA164904C054}"/>
              </a:ext>
            </a:extLst>
          </p:cNvPr>
          <p:cNvSpPr>
            <a:spLocks xmlns:a="http://schemas.openxmlformats.org/drawingml/2006/main" noGrp="1"/>
          </p:cNvSpPr>
          <p:nvPr/>
        </p:nvSpPr>
        <p:spPr>
          <a:xfrm xmlns:a="http://schemas.openxmlformats.org/drawingml/2006/main">
            <a:off x="800100" y="4162425"/>
            <a:ext cx="9525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100" b="0">
                <a:solidFill>
                  <a:srgbClr val="172B3A"/>
                </a:solidFill>
                <a:latin typeface="Arial"/>
                <a:ea typeface="Arial"/>
                <a:cs typeface="Arial"/>
              </a:defRPr>
            </a:pPr>
            <a:r>
              <a:rPr sz="2100" b="0">
                <a:solidFill>
                  <a:srgbClr val="172B3A"/>
                </a:solidFill>
                <a:latin typeface="Arial"/>
                <a:ea typeface="Arial"/>
                <a:cs typeface="Arial"/>
              </a:rPr>
              <a:t>Add traffic lights and speed limits.</a:t>
            </a:r>
          </a:p>
          <a:p xmlns:a="http://schemas.openxmlformats.org/drawingml/2006/main">
            <a:pPr algn="l">
              <a:buNone/>
              <a:defRPr sz="2100" b="0">
                <a:solidFill>
                  <a:srgbClr val="172B3A"/>
                </a:solidFill>
                <a:latin typeface="Arial"/>
                <a:ea typeface="Arial"/>
                <a:cs typeface="Arial"/>
              </a:defRPr>
            </a:pPr>
            <a:r>
              <a:rPr sz="2100" b="0">
                <a:solidFill>
                  <a:srgbClr val="172B3A"/>
                </a:solidFill>
                <a:latin typeface="Arial"/>
                <a:ea typeface="Arial"/>
                <a:cs typeface="Arial"/>
              </a:rPr>
              <a:t>Use uncertain sensor inputs.</a:t>
            </a:r>
          </a:p>
          <a:p xmlns:a="http://schemas.openxmlformats.org/drawingml/2006/main">
            <a:pPr algn="l">
              <a:buNone/>
              <a:defRPr sz="2100" b="0">
                <a:solidFill>
                  <a:srgbClr val="172B3A"/>
                </a:solidFill>
                <a:latin typeface="Arial"/>
                <a:ea typeface="Arial"/>
                <a:cs typeface="Arial"/>
              </a:defRPr>
            </a:pPr>
            <a:r>
              <a:rPr sz="2100" b="0">
                <a:solidFill>
                  <a:srgbClr val="172B3A"/>
                </a:solidFill>
                <a:latin typeface="Arial"/>
                <a:ea typeface="Arial"/>
                <a:cs typeface="Arial"/>
              </a:rPr>
              <a:t>Test more pedestrian and stop-sign timings.</a:t>
            </a:r>
          </a:p>
        </p:txBody>
      </p:sp>
      <p:sp>
        <p:nvSpPr>
          <p:cNvPr id="7" name="">
            <a:extLst xmlns:a="http://schemas.openxmlformats.org/drawingml/2006/main">
              <a:ext uri="{FF2B5EF4-FFF2-40B4-BE49-F238E27FC236}">
                <a16:creationId xmlns:a16="http://schemas.microsoft.com/office/drawing/2014/main" id="{DCD80E42-E8C7-4FE0-B0B8-59A634B9E764}"/>
              </a:ext>
            </a:extLst>
          </p:cNvPr>
          <p:cNvSpPr>
            <a:spLocks xmlns:a="http://schemas.openxmlformats.org/drawingml/2006/main" noGrp="1"/>
          </p:cNvSpPr>
          <p:nvPr/>
        </p:nvSpPr>
        <p:spPr>
          <a:xfrm xmlns:a="http://schemas.openxmlformats.org/drawingml/2006/main">
            <a:off x="800100" y="5943600"/>
            <a:ext cx="952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BD4C45"/>
                </a:solidFill>
                <a:latin typeface="Arial"/>
                <a:ea typeface="Arial"/>
                <a:cs typeface="Arial"/>
              </a:defRPr>
            </a:pPr>
            <a:r>
              <a:rPr sz="1650" b="1">
                <a:solidFill>
                  <a:srgbClr val="BD4C45"/>
                </a:solidFill>
                <a:latin typeface="Arial"/>
                <a:ea typeface="Arial"/>
                <a:cs typeface="Arial"/>
              </a:rPr>
              <a:t>Educational simulation only. Do not use to control a real vehicle.</a:t>
            </a:r>
          </a:p>
        </p:txBody>
      </p:sp>
    </p:spTree>
    <p:extLst>
      <p:ext uri="{BB962C8B-B14F-4D97-AF65-F5344CB8AC3E}">
        <p14:creationId xmlns:p14="http://schemas.microsoft.com/office/powerpoint/2010/main" val="375592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2026-09-28T20:08:50.2120000Z</dcterms:created>
  <dcterms:modified xsi:type="dcterms:W3CDTF">2026-09-28T20:08:50.2120000Z</dcterms:modified>
</coreProperties>
</file>